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6256000" cy="9144000"/>
  <p:notesSz cx="9144000" cy="16256000"/>
  <p:embeddedFontLst>
    <p:embeddedFont>
      <p:font typeface="Liter" charset="-122" pitchFamily="34"/>
      <p:regular r:id="rId34"/>
    </p:embeddedFont>
    <p:embeddedFont>
      <p:font typeface="Quattrocento Sans" charset="-122" pitchFamily="34"/>
      <p:regular r:id="rId3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openxmlformats.org/officeDocument/2006/relationships/font" Target="fonts/font1.fntdata"/><Relationship Id="rId35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B2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B2F"/>
                </a:solidFill>
                <a:latin typeface="Arial"/>
              </a:rPr>
              <a:t>Revenue by Stream (Rs. Cr)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+ Onboarding</c:v>
                </c:pt>
              </c:strCache>
            </c:strRef>
          </c:tx>
          <c:spPr>
            <a:solidFill>
              <a:srgbClr val="1B1B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0.29</c:v>
                </c:pt>
                <c:pt idx="1">
                  <c:v>2.1</c:v>
                </c:pt>
                <c:pt idx="2">
                  <c:v>8.9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Exchange Fees</c:v>
                </c:pt>
              </c:strCache>
            </c:strRef>
          </c:tx>
          <c:spPr>
            <a:solidFill>
              <a:srgbClr val="D463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0.18</c:v>
                </c:pt>
                <c:pt idx="2">
                  <c:v>1.75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B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9A8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8_13_500_India_City_Aerial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60000"/>
                </a:srgbClr>
              </a:gs>
              <a:gs pos="100000">
                <a:srgbClr val="1B1B2F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84500"/>
            <a:ext cx="2540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302000"/>
            <a:ext cx="12700000" cy="952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5200" spc="4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GOSUMO REALTY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2413000" y="4445000"/>
            <a:ext cx="1143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spc="2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REVENUE ENGINE &amp; CO-BROKING NETWORK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048000" y="5080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Plan &amp; Technical Blueprint  |  July 2026  |  Confidential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858000" y="5778500"/>
            <a:ext cx="2540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6032500"/>
            <a:ext cx="1016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i="1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lead answered in 30 seconds. Every buyer qualified. Every follow-up kept.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PLAN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825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98600"/>
            <a:ext cx="1016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905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9500" y="2222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1079500" y="3175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3708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size, the leaking funnel, and beachhead strategy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2000" y="1905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1905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96000" y="2222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096000" y="3175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96000" y="3708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Lead Manager on WhatsApp, trust &amp; safety by design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78500" y="1905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795000" y="1905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112500" y="2222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11112500" y="3175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NETWORK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112500" y="3708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effects, co-broking exchange, and the flywheel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795000" y="1905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5334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9500" y="5651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5200" dirty="0"/>
          </a:p>
        </p:txBody>
      </p:sp>
      <p:sp>
        <p:nvSpPr>
          <p:cNvPr id="22" name="Text 20"/>
          <p:cNvSpPr/>
          <p:nvPr/>
        </p:nvSpPr>
        <p:spPr>
          <a:xfrm>
            <a:off x="1079500" y="6604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79500" y="7137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Competition, pricing, unit economics, and financial plan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5334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5" name="Shape 23"/>
          <p:cNvSpPr/>
          <p:nvPr/>
        </p:nvSpPr>
        <p:spPr>
          <a:xfrm>
            <a:off x="5778500" y="5334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0" y="5651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096000" y="6604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BLUEPRINT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96000" y="7137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AI engine, data model, and delivery roadmap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778500" y="5334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95000" y="5334000"/>
            <a:ext cx="4699000" cy="3111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12500" y="5651500"/>
            <a:ext cx="1079500" cy="825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5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11112500" y="6604000"/>
            <a:ext cx="4064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1112500" y="7137400"/>
            <a:ext cx="4064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KPIs, risk register, team, and capital plan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10795000" y="5334000"/>
            <a:ext cx="50800" cy="3111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826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July 2026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10_Quiet_luxury_makes_a_grand_stateme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market, the problem, and the beachhead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GOSUMO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524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is the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operating system for Indian real estate sales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an AI workforce that answers every property lead in under 30 seconds, qualifies buyers, and follows up for 90 days, connected to a broker-to-broker network that turns unmatched leads into shared closings.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76500"/>
          <a:ext cx="14732000" cy="6223000"/>
        </p:xfrm>
        <a:graphic>
          <a:graphicData uri="http://schemas.openxmlformats.org/drawingml/2006/table">
            <a:tbl>
              <a:tblPr/>
              <a:tblGrid>
                <a:gridCol w="4124960"/>
                <a:gridCol w="10607040"/>
              </a:tblGrid>
              <a:tr h="684530"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Dimension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Details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Vertical AI + B2B network for real estate sales (PropTech / SalesTech)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Wedge Product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Lead Manager on WhatsApp for brokers, CP firms, and small developers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Network Layer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Micro-market intelligence + co-broking exchange + developer inventory distribution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Business Model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SaaS (Rs.3,999 – Rs.24,999/mo) + exchange success fee (5-8% of commission pool)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Beachhead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Channel-partner firms (3-15 agents) in one high-velocity corridor of one metro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Validation Path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30-day concierge pilot (paid) → 8-week MVP → 10 paying accounts → corridor density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3433"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3-Year Target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Rs.10-11 Cr ARR</a:t>
                      </a:r>
                      <a:pPr algn="ctr"/>
                      <a:r>
                        <a:rPr lang="en-US" sz="15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(Year 3), ~80% gross margin, exchange revenue ~17% and rising</a:t>
                      </a:r>
                      <a:endParaRPr lang="en-US" sz="15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8" name="Text 5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INDIAN REAL ESTATE MEETS ITS DIGITAL DECADE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3492500" cy="1397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3-4 Lakh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16000" y="2311400"/>
            <a:ext cx="2984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homes sold/year across major cities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08500" y="1524000"/>
            <a:ext cx="3492500" cy="1397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9" name="Text 7"/>
          <p:cNvSpPr/>
          <p:nvPr/>
        </p:nvSpPr>
        <p:spPr>
          <a:xfrm>
            <a:off x="4762500" y="16256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1,05,712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762500" y="2311400"/>
            <a:ext cx="2984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RERA-registered agents, growing 19% YoY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55000" y="1524000"/>
            <a:ext cx="3492500" cy="1397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9000" y="16256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USD 3.8 Bn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509000" y="2311400"/>
            <a:ext cx="2984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PropTech market by 2034 (12% CAGR)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001500" y="1524000"/>
            <a:ext cx="3492500" cy="1397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5" name="Text 13"/>
          <p:cNvSpPr/>
          <p:nvPr/>
        </p:nvSpPr>
        <p:spPr>
          <a:xfrm>
            <a:off x="12255500" y="1625600"/>
            <a:ext cx="2984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80%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12255500" y="2311400"/>
            <a:ext cx="29845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Buyers use online tools before contacting brokers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32385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STRUCTURAL SHIFTS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762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19" name="Text 17"/>
          <p:cNvSpPr/>
          <p:nvPr/>
        </p:nvSpPr>
        <p:spPr>
          <a:xfrm>
            <a:off x="1270000" y="381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FORMALIZATION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0000" y="41402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RERA registration quadrupling organized agents, forcing digitizable professional behavior for the first time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37067" y="111125"/>
                </a:moveTo>
                <a:cubicBezTo>
                  <a:pt x="226139" y="111125"/>
                  <a:pt x="217311" y="101193"/>
                  <a:pt x="217311" y="88900"/>
                </a:cubicBezTo>
                <a:cubicBezTo>
                  <a:pt x="217311" y="76607"/>
                  <a:pt x="226139" y="66675"/>
                  <a:pt x="237067" y="66675"/>
                </a:cubicBezTo>
                <a:lnTo>
                  <a:pt x="335844" y="66675"/>
                </a:lnTo>
                <a:cubicBezTo>
                  <a:pt x="346772" y="66675"/>
                  <a:pt x="355600" y="76607"/>
                  <a:pt x="355600" y="88900"/>
                </a:cubicBezTo>
                <a:lnTo>
                  <a:pt x="355600" y="200025"/>
                </a:lnTo>
                <a:cubicBezTo>
                  <a:pt x="355600" y="212318"/>
                  <a:pt x="346772" y="222250"/>
                  <a:pt x="335844" y="222250"/>
                </a:cubicBezTo>
                <a:cubicBezTo>
                  <a:pt x="324917" y="222250"/>
                  <a:pt x="316089" y="212318"/>
                  <a:pt x="316089" y="200025"/>
                </a:cubicBezTo>
                <a:lnTo>
                  <a:pt x="316089" y="142587"/>
                </a:lnTo>
                <a:lnTo>
                  <a:pt x="211508" y="260241"/>
                </a:lnTo>
                <a:cubicBezTo>
                  <a:pt x="203791" y="268923"/>
                  <a:pt x="191258" y="268923"/>
                  <a:pt x="183541" y="260241"/>
                </a:cubicBezTo>
                <a:lnTo>
                  <a:pt x="118533" y="187037"/>
                </a:lnTo>
                <a:lnTo>
                  <a:pt x="33708" y="282396"/>
                </a:lnTo>
                <a:cubicBezTo>
                  <a:pt x="25991" y="291078"/>
                  <a:pt x="13458" y="291078"/>
                  <a:pt x="5741" y="282396"/>
                </a:cubicBezTo>
                <a:cubicBezTo>
                  <a:pt x="-1976" y="273715"/>
                  <a:pt x="-1976" y="259616"/>
                  <a:pt x="5741" y="250934"/>
                </a:cubicBezTo>
                <a:lnTo>
                  <a:pt x="104519" y="139809"/>
                </a:lnTo>
                <a:cubicBezTo>
                  <a:pt x="112236" y="131128"/>
                  <a:pt x="124769" y="131128"/>
                  <a:pt x="132486" y="139809"/>
                </a:cubicBezTo>
                <a:lnTo>
                  <a:pt x="197556" y="213013"/>
                </a:lnTo>
                <a:lnTo>
                  <a:pt x="288122" y="111125"/>
                </a:lnTo>
                <a:lnTo>
                  <a:pt x="237067" y="111125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LEAD INFLATION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0000" y="52197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Developers pouring spend into portals and Meta ads while conversion stays at 0.4-1.2% — cost of wasted leads never higher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02339" y="67439"/>
                </a:moveTo>
                <a:cubicBezTo>
                  <a:pt x="269081" y="38269"/>
                  <a:pt x="224790" y="22225"/>
                  <a:pt x="177721" y="22225"/>
                </a:cubicBezTo>
                <a:cubicBezTo>
                  <a:pt x="80566" y="22225"/>
                  <a:pt x="1508" y="91400"/>
                  <a:pt x="1508" y="176411"/>
                </a:cubicBezTo>
                <a:cubicBezTo>
                  <a:pt x="1508" y="203567"/>
                  <a:pt x="9604" y="230098"/>
                  <a:pt x="25003" y="253504"/>
                </a:cubicBezTo>
                <a:lnTo>
                  <a:pt x="0" y="333375"/>
                </a:lnTo>
                <a:lnTo>
                  <a:pt x="93424" y="311914"/>
                </a:lnTo>
                <a:cubicBezTo>
                  <a:pt x="119142" y="324207"/>
                  <a:pt x="148114" y="330666"/>
                  <a:pt x="177641" y="330666"/>
                </a:cubicBezTo>
                <a:lnTo>
                  <a:pt x="177721" y="330666"/>
                </a:lnTo>
                <a:cubicBezTo>
                  <a:pt x="274796" y="330666"/>
                  <a:pt x="355600" y="261491"/>
                  <a:pt x="355600" y="176480"/>
                </a:cubicBezTo>
                <a:cubicBezTo>
                  <a:pt x="355600" y="135295"/>
                  <a:pt x="335598" y="96609"/>
                  <a:pt x="302339" y="67439"/>
                </a:cubicBezTo>
                <a:close/>
                <a:moveTo>
                  <a:pt x="177721" y="304691"/>
                </a:moveTo>
                <a:cubicBezTo>
                  <a:pt x="151368" y="304691"/>
                  <a:pt x="125571" y="298510"/>
                  <a:pt x="103108" y="286841"/>
                </a:cubicBezTo>
                <a:lnTo>
                  <a:pt x="97790" y="284063"/>
                </a:lnTo>
                <a:lnTo>
                  <a:pt x="42386" y="296773"/>
                </a:lnTo>
                <a:lnTo>
                  <a:pt x="57150" y="249476"/>
                </a:lnTo>
                <a:lnTo>
                  <a:pt x="53657" y="244614"/>
                </a:lnTo>
                <a:cubicBezTo>
                  <a:pt x="38973" y="224195"/>
                  <a:pt x="31274" y="200650"/>
                  <a:pt x="31274" y="176411"/>
                </a:cubicBezTo>
                <a:cubicBezTo>
                  <a:pt x="31274" y="105777"/>
                  <a:pt x="96996" y="48270"/>
                  <a:pt x="177800" y="48270"/>
                </a:cubicBezTo>
                <a:cubicBezTo>
                  <a:pt x="216932" y="48270"/>
                  <a:pt x="253682" y="61605"/>
                  <a:pt x="281305" y="85844"/>
                </a:cubicBezTo>
                <a:cubicBezTo>
                  <a:pt x="308928" y="110083"/>
                  <a:pt x="325914" y="142240"/>
                  <a:pt x="325834" y="176480"/>
                </a:cubicBezTo>
                <a:cubicBezTo>
                  <a:pt x="325834" y="247184"/>
                  <a:pt x="258445" y="304691"/>
                  <a:pt x="177721" y="304691"/>
                </a:cubicBezTo>
                <a:close/>
                <a:moveTo>
                  <a:pt x="258048" y="208707"/>
                </a:moveTo>
                <a:cubicBezTo>
                  <a:pt x="253683" y="206762"/>
                  <a:pt x="232013" y="197455"/>
                  <a:pt x="227965" y="196205"/>
                </a:cubicBezTo>
                <a:cubicBezTo>
                  <a:pt x="223917" y="194885"/>
                  <a:pt x="220980" y="194260"/>
                  <a:pt x="218043" y="198150"/>
                </a:cubicBezTo>
                <a:cubicBezTo>
                  <a:pt x="215106" y="202039"/>
                  <a:pt x="206693" y="210651"/>
                  <a:pt x="204073" y="213291"/>
                </a:cubicBezTo>
                <a:cubicBezTo>
                  <a:pt x="201533" y="215860"/>
                  <a:pt x="198914" y="216208"/>
                  <a:pt x="194548" y="214263"/>
                </a:cubicBezTo>
                <a:cubicBezTo>
                  <a:pt x="168672" y="202942"/>
                  <a:pt x="151686" y="194052"/>
                  <a:pt x="134620" y="168424"/>
                </a:cubicBezTo>
                <a:cubicBezTo>
                  <a:pt x="130096" y="161617"/>
                  <a:pt x="139144" y="162104"/>
                  <a:pt x="147558" y="147380"/>
                </a:cubicBezTo>
                <a:cubicBezTo>
                  <a:pt x="148987" y="144810"/>
                  <a:pt x="148273" y="142587"/>
                  <a:pt x="147161" y="140643"/>
                </a:cubicBezTo>
                <a:cubicBezTo>
                  <a:pt x="146050" y="138698"/>
                  <a:pt x="137239" y="119737"/>
                  <a:pt x="133588" y="112028"/>
                </a:cubicBezTo>
                <a:cubicBezTo>
                  <a:pt x="130016" y="104527"/>
                  <a:pt x="126365" y="105569"/>
                  <a:pt x="123666" y="105430"/>
                </a:cubicBezTo>
                <a:cubicBezTo>
                  <a:pt x="121126" y="105291"/>
                  <a:pt x="118189" y="105291"/>
                  <a:pt x="115253" y="105291"/>
                </a:cubicBezTo>
                <a:cubicBezTo>
                  <a:pt x="112316" y="105291"/>
                  <a:pt x="107553" y="106263"/>
                  <a:pt x="103505" y="110083"/>
                </a:cubicBezTo>
                <a:cubicBezTo>
                  <a:pt x="99457" y="113973"/>
                  <a:pt x="88106" y="123279"/>
                  <a:pt x="88106" y="142240"/>
                </a:cubicBezTo>
                <a:cubicBezTo>
                  <a:pt x="88106" y="161201"/>
                  <a:pt x="103902" y="179536"/>
                  <a:pt x="106045" y="182106"/>
                </a:cubicBezTo>
                <a:cubicBezTo>
                  <a:pt x="108268" y="184676"/>
                  <a:pt x="137081" y="223570"/>
                  <a:pt x="181293" y="240308"/>
                </a:cubicBezTo>
                <a:cubicBezTo>
                  <a:pt x="209233" y="250865"/>
                  <a:pt x="220186" y="251768"/>
                  <a:pt x="234156" y="249962"/>
                </a:cubicBezTo>
                <a:cubicBezTo>
                  <a:pt x="242649" y="248851"/>
                  <a:pt x="260191" y="240655"/>
                  <a:pt x="263843" y="231626"/>
                </a:cubicBezTo>
                <a:cubicBezTo>
                  <a:pt x="267494" y="222597"/>
                  <a:pt x="267494" y="214888"/>
                  <a:pt x="266382" y="213291"/>
                </a:cubicBezTo>
                <a:cubicBezTo>
                  <a:pt x="265351" y="211554"/>
                  <a:pt x="262414" y="210582"/>
                  <a:pt x="258048" y="208707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5" name="Text 23"/>
          <p:cNvSpPr/>
          <p:nvPr/>
        </p:nvSpPr>
        <p:spPr>
          <a:xfrm>
            <a:off x="1270000" y="5969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 LAYER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70000" y="6299200"/>
            <a:ext cx="6223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property conversations already live on WhatsApp — business messaging infrastructure now mature enough for sales ops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382000" y="3810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5580" y="0"/>
                </a:moveTo>
                <a:cubicBezTo>
                  <a:pt x="195580" y="-12293"/>
                  <a:pt x="187635" y="-22225"/>
                  <a:pt x="177800" y="-22225"/>
                </a:cubicBezTo>
                <a:cubicBezTo>
                  <a:pt x="167965" y="-22225"/>
                  <a:pt x="160020" y="-12293"/>
                  <a:pt x="160020" y="0"/>
                </a:cubicBezTo>
                <a:lnTo>
                  <a:pt x="160020" y="44450"/>
                </a:lnTo>
                <a:lnTo>
                  <a:pt x="106680" y="44450"/>
                </a:lnTo>
                <a:cubicBezTo>
                  <a:pt x="77232" y="44450"/>
                  <a:pt x="53340" y="74315"/>
                  <a:pt x="53340" y="111125"/>
                </a:cubicBezTo>
                <a:lnTo>
                  <a:pt x="53340" y="266700"/>
                </a:lnTo>
                <a:cubicBezTo>
                  <a:pt x="53340" y="303510"/>
                  <a:pt x="77232" y="333375"/>
                  <a:pt x="106680" y="333375"/>
                </a:cubicBezTo>
                <a:lnTo>
                  <a:pt x="248920" y="333375"/>
                </a:lnTo>
                <a:cubicBezTo>
                  <a:pt x="278368" y="333375"/>
                  <a:pt x="302260" y="303510"/>
                  <a:pt x="302260" y="266700"/>
                </a:cubicBezTo>
                <a:lnTo>
                  <a:pt x="302260" y="111125"/>
                </a:lnTo>
                <a:cubicBezTo>
                  <a:pt x="302260" y="74315"/>
                  <a:pt x="278368" y="44450"/>
                  <a:pt x="248920" y="44450"/>
                </a:cubicBezTo>
                <a:lnTo>
                  <a:pt x="195580" y="44450"/>
                </a:lnTo>
                <a:lnTo>
                  <a:pt x="195580" y="0"/>
                </a:lnTo>
                <a:close/>
                <a:moveTo>
                  <a:pt x="88900" y="255587"/>
                </a:moveTo>
                <a:cubicBezTo>
                  <a:pt x="88900" y="246350"/>
                  <a:pt x="94845" y="238919"/>
                  <a:pt x="102235" y="238919"/>
                </a:cubicBezTo>
                <a:lnTo>
                  <a:pt x="120015" y="238919"/>
                </a:lnTo>
                <a:cubicBezTo>
                  <a:pt x="127405" y="238919"/>
                  <a:pt x="133350" y="246350"/>
                  <a:pt x="133350" y="255587"/>
                </a:cubicBezTo>
                <a:cubicBezTo>
                  <a:pt x="133350" y="264825"/>
                  <a:pt x="127405" y="272256"/>
                  <a:pt x="120015" y="272256"/>
                </a:cubicBezTo>
                <a:lnTo>
                  <a:pt x="102235" y="272256"/>
                </a:lnTo>
                <a:cubicBezTo>
                  <a:pt x="94845" y="272256"/>
                  <a:pt x="88900" y="264825"/>
                  <a:pt x="88900" y="255587"/>
                </a:cubicBezTo>
                <a:close/>
                <a:moveTo>
                  <a:pt x="155575" y="255587"/>
                </a:moveTo>
                <a:cubicBezTo>
                  <a:pt x="155575" y="246350"/>
                  <a:pt x="161520" y="238919"/>
                  <a:pt x="168910" y="238919"/>
                </a:cubicBezTo>
                <a:lnTo>
                  <a:pt x="186690" y="238919"/>
                </a:lnTo>
                <a:cubicBezTo>
                  <a:pt x="194080" y="238919"/>
                  <a:pt x="200025" y="246350"/>
                  <a:pt x="200025" y="255587"/>
                </a:cubicBezTo>
                <a:cubicBezTo>
                  <a:pt x="200025" y="264825"/>
                  <a:pt x="194080" y="272256"/>
                  <a:pt x="186690" y="272256"/>
                </a:cubicBezTo>
                <a:lnTo>
                  <a:pt x="168910" y="272256"/>
                </a:lnTo>
                <a:cubicBezTo>
                  <a:pt x="161520" y="272256"/>
                  <a:pt x="155575" y="264825"/>
                  <a:pt x="155575" y="255587"/>
                </a:cubicBezTo>
                <a:close/>
                <a:moveTo>
                  <a:pt x="222250" y="255587"/>
                </a:moveTo>
                <a:cubicBezTo>
                  <a:pt x="222250" y="246350"/>
                  <a:pt x="228195" y="238919"/>
                  <a:pt x="235585" y="238919"/>
                </a:cubicBezTo>
                <a:lnTo>
                  <a:pt x="253365" y="238919"/>
                </a:lnTo>
                <a:cubicBezTo>
                  <a:pt x="260755" y="238919"/>
                  <a:pt x="266700" y="246350"/>
                  <a:pt x="266700" y="255587"/>
                </a:cubicBezTo>
                <a:cubicBezTo>
                  <a:pt x="266700" y="264825"/>
                  <a:pt x="260755" y="272256"/>
                  <a:pt x="253365" y="272256"/>
                </a:cubicBezTo>
                <a:lnTo>
                  <a:pt x="235585" y="272256"/>
                </a:lnTo>
                <a:cubicBezTo>
                  <a:pt x="228195" y="272256"/>
                  <a:pt x="222250" y="264825"/>
                  <a:pt x="222250" y="255587"/>
                </a:cubicBezTo>
                <a:close/>
                <a:moveTo>
                  <a:pt x="124460" y="122238"/>
                </a:moveTo>
                <a:cubicBezTo>
                  <a:pt x="139180" y="122238"/>
                  <a:pt x="151130" y="137176"/>
                  <a:pt x="151130" y="155575"/>
                </a:cubicBezTo>
                <a:cubicBezTo>
                  <a:pt x="151130" y="173974"/>
                  <a:pt x="139180" y="188913"/>
                  <a:pt x="124460" y="188913"/>
                </a:cubicBezTo>
                <a:cubicBezTo>
                  <a:pt x="109740" y="188913"/>
                  <a:pt x="97790" y="173974"/>
                  <a:pt x="97790" y="155575"/>
                </a:cubicBezTo>
                <a:cubicBezTo>
                  <a:pt x="97790" y="137176"/>
                  <a:pt x="109740" y="122238"/>
                  <a:pt x="124460" y="122238"/>
                </a:cubicBezTo>
                <a:close/>
                <a:moveTo>
                  <a:pt x="204470" y="155575"/>
                </a:moveTo>
                <a:cubicBezTo>
                  <a:pt x="204470" y="137176"/>
                  <a:pt x="216420" y="122238"/>
                  <a:pt x="231140" y="122238"/>
                </a:cubicBezTo>
                <a:cubicBezTo>
                  <a:pt x="245860" y="122238"/>
                  <a:pt x="257810" y="137176"/>
                  <a:pt x="257810" y="155575"/>
                </a:cubicBezTo>
                <a:cubicBezTo>
                  <a:pt x="257810" y="173974"/>
                  <a:pt x="245860" y="188913"/>
                  <a:pt x="231140" y="188913"/>
                </a:cubicBezTo>
                <a:cubicBezTo>
                  <a:pt x="216420" y="188913"/>
                  <a:pt x="204470" y="173974"/>
                  <a:pt x="204470" y="155575"/>
                </a:cubicBezTo>
                <a:close/>
                <a:moveTo>
                  <a:pt x="35560" y="155575"/>
                </a:moveTo>
                <a:cubicBezTo>
                  <a:pt x="35560" y="143282"/>
                  <a:pt x="27615" y="133350"/>
                  <a:pt x="17780" y="133350"/>
                </a:cubicBezTo>
                <a:cubicBezTo>
                  <a:pt x="7945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7945" y="244475"/>
                  <a:pt x="17780" y="244475"/>
                </a:cubicBezTo>
                <a:cubicBezTo>
                  <a:pt x="27615" y="244475"/>
                  <a:pt x="35560" y="234543"/>
                  <a:pt x="35560" y="222250"/>
                </a:cubicBezTo>
                <a:lnTo>
                  <a:pt x="35560" y="155575"/>
                </a:lnTo>
                <a:close/>
                <a:moveTo>
                  <a:pt x="337820" y="133350"/>
                </a:moveTo>
                <a:cubicBezTo>
                  <a:pt x="327985" y="133350"/>
                  <a:pt x="320040" y="143282"/>
                  <a:pt x="320040" y="155575"/>
                </a:cubicBezTo>
                <a:lnTo>
                  <a:pt x="320040" y="222250"/>
                </a:lnTo>
                <a:cubicBezTo>
                  <a:pt x="320040" y="234543"/>
                  <a:pt x="327985" y="244475"/>
                  <a:pt x="337820" y="244475"/>
                </a:cubicBezTo>
                <a:cubicBezTo>
                  <a:pt x="347655" y="244475"/>
                  <a:pt x="355600" y="234543"/>
                  <a:pt x="355600" y="222250"/>
                </a:cubicBezTo>
                <a:lnTo>
                  <a:pt x="355600" y="155575"/>
                </a:lnTo>
                <a:cubicBezTo>
                  <a:pt x="355600" y="143282"/>
                  <a:pt x="347655" y="133350"/>
                  <a:pt x="337820" y="133350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38100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AI-AGENT MOMENT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0000" y="41402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2025-26 made autonomous business agents mainstream — vertical agents that know inventory and compliance will capture value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82000" y="4889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16681" y="38894"/>
                </a:moveTo>
                <a:lnTo>
                  <a:pt x="116681" y="66675"/>
                </a:lnTo>
                <a:lnTo>
                  <a:pt x="62438" y="66675"/>
                </a:lnTo>
                <a:cubicBezTo>
                  <a:pt x="52507" y="66675"/>
                  <a:pt x="44450" y="74732"/>
                  <a:pt x="44450" y="84663"/>
                </a:cubicBezTo>
                <a:cubicBezTo>
                  <a:pt x="44450" y="87441"/>
                  <a:pt x="45075" y="90220"/>
                  <a:pt x="46325" y="92720"/>
                </a:cubicBezTo>
                <a:lnTo>
                  <a:pt x="69523" y="139115"/>
                </a:lnTo>
                <a:cubicBezTo>
                  <a:pt x="61605" y="140365"/>
                  <a:pt x="55493" y="147241"/>
                  <a:pt x="55493" y="155575"/>
                </a:cubicBezTo>
                <a:cubicBezTo>
                  <a:pt x="55493" y="164812"/>
                  <a:pt x="62925" y="172244"/>
                  <a:pt x="72162" y="172244"/>
                </a:cubicBezTo>
                <a:lnTo>
                  <a:pt x="76051" y="172244"/>
                </a:lnTo>
                <a:lnTo>
                  <a:pt x="66606" y="266700"/>
                </a:lnTo>
                <a:lnTo>
                  <a:pt x="27573" y="315526"/>
                </a:lnTo>
                <a:cubicBezTo>
                  <a:pt x="24100" y="319901"/>
                  <a:pt x="22156" y="325318"/>
                  <a:pt x="22156" y="330944"/>
                </a:cubicBezTo>
                <a:cubicBezTo>
                  <a:pt x="22156" y="344557"/>
                  <a:pt x="33199" y="355600"/>
                  <a:pt x="46811" y="355600"/>
                </a:cubicBezTo>
                <a:lnTo>
                  <a:pt x="219680" y="355600"/>
                </a:lnTo>
                <a:cubicBezTo>
                  <a:pt x="233293" y="355600"/>
                  <a:pt x="244336" y="344557"/>
                  <a:pt x="244336" y="330944"/>
                </a:cubicBezTo>
                <a:cubicBezTo>
                  <a:pt x="244336" y="325318"/>
                  <a:pt x="242461" y="319901"/>
                  <a:pt x="238919" y="315526"/>
                </a:cubicBezTo>
                <a:lnTo>
                  <a:pt x="200025" y="266700"/>
                </a:lnTo>
                <a:lnTo>
                  <a:pt x="190579" y="172244"/>
                </a:lnTo>
                <a:lnTo>
                  <a:pt x="194469" y="172244"/>
                </a:lnTo>
                <a:cubicBezTo>
                  <a:pt x="203706" y="172244"/>
                  <a:pt x="211138" y="164812"/>
                  <a:pt x="211138" y="155575"/>
                </a:cubicBezTo>
                <a:cubicBezTo>
                  <a:pt x="211138" y="147310"/>
                  <a:pt x="205095" y="140365"/>
                  <a:pt x="197108" y="139115"/>
                </a:cubicBezTo>
                <a:lnTo>
                  <a:pt x="220305" y="92720"/>
                </a:lnTo>
                <a:cubicBezTo>
                  <a:pt x="221555" y="90220"/>
                  <a:pt x="222181" y="87441"/>
                  <a:pt x="222181" y="84663"/>
                </a:cubicBezTo>
                <a:cubicBezTo>
                  <a:pt x="222181" y="74732"/>
                  <a:pt x="214124" y="66675"/>
                  <a:pt x="204192" y="66675"/>
                </a:cubicBezTo>
                <a:lnTo>
                  <a:pt x="149949" y="66675"/>
                </a:lnTo>
                <a:lnTo>
                  <a:pt x="149949" y="38894"/>
                </a:lnTo>
                <a:lnTo>
                  <a:pt x="161062" y="38894"/>
                </a:lnTo>
                <a:cubicBezTo>
                  <a:pt x="170299" y="38894"/>
                  <a:pt x="177731" y="31462"/>
                  <a:pt x="177731" y="22225"/>
                </a:cubicBezTo>
                <a:cubicBezTo>
                  <a:pt x="177731" y="12988"/>
                  <a:pt x="170369" y="5556"/>
                  <a:pt x="161131" y="5556"/>
                </a:cubicBezTo>
                <a:lnTo>
                  <a:pt x="150019" y="5556"/>
                </a:lnTo>
                <a:lnTo>
                  <a:pt x="150019" y="-5556"/>
                </a:lnTo>
                <a:cubicBezTo>
                  <a:pt x="150019" y="-14794"/>
                  <a:pt x="142587" y="-22225"/>
                  <a:pt x="133350" y="-22225"/>
                </a:cubicBezTo>
                <a:cubicBezTo>
                  <a:pt x="124113" y="-22225"/>
                  <a:pt x="116681" y="-14794"/>
                  <a:pt x="116681" y="-5556"/>
                </a:cubicBezTo>
                <a:lnTo>
                  <a:pt x="116681" y="5556"/>
                </a:lnTo>
                <a:lnTo>
                  <a:pt x="105569" y="5556"/>
                </a:lnTo>
                <a:cubicBezTo>
                  <a:pt x="96331" y="5556"/>
                  <a:pt x="88900" y="12988"/>
                  <a:pt x="88900" y="22225"/>
                </a:cubicBezTo>
                <a:cubicBezTo>
                  <a:pt x="88900" y="31462"/>
                  <a:pt x="96331" y="38894"/>
                  <a:pt x="105569" y="38894"/>
                </a:cubicBezTo>
                <a:lnTo>
                  <a:pt x="116681" y="38894"/>
                </a:lnTo>
                <a:close/>
                <a:moveTo>
                  <a:pt x="226278" y="194191"/>
                </a:moveTo>
                <a:lnTo>
                  <a:pt x="232182" y="253573"/>
                </a:lnTo>
                <a:lnTo>
                  <a:pt x="265103" y="294690"/>
                </a:lnTo>
                <a:lnTo>
                  <a:pt x="268020" y="298648"/>
                </a:lnTo>
                <a:cubicBezTo>
                  <a:pt x="274409" y="308164"/>
                  <a:pt x="277813" y="319415"/>
                  <a:pt x="277813" y="330944"/>
                </a:cubicBezTo>
                <a:cubicBezTo>
                  <a:pt x="277813" y="339765"/>
                  <a:pt x="275868" y="348169"/>
                  <a:pt x="272326" y="355600"/>
                </a:cubicBezTo>
                <a:lnTo>
                  <a:pt x="330041" y="355600"/>
                </a:lnTo>
                <a:cubicBezTo>
                  <a:pt x="344140" y="355600"/>
                  <a:pt x="355600" y="344140"/>
                  <a:pt x="355600" y="330041"/>
                </a:cubicBezTo>
                <a:cubicBezTo>
                  <a:pt x="355600" y="324971"/>
                  <a:pt x="354072" y="320040"/>
                  <a:pt x="351294" y="315873"/>
                </a:cubicBezTo>
                <a:lnTo>
                  <a:pt x="333375" y="288994"/>
                </a:lnTo>
                <a:lnTo>
                  <a:pt x="333375" y="244544"/>
                </a:lnTo>
                <a:lnTo>
                  <a:pt x="342612" y="235307"/>
                </a:lnTo>
                <a:cubicBezTo>
                  <a:pt x="350947" y="226973"/>
                  <a:pt x="355600" y="215652"/>
                  <a:pt x="355600" y="203845"/>
                </a:cubicBezTo>
                <a:lnTo>
                  <a:pt x="355600" y="133350"/>
                </a:lnTo>
                <a:cubicBezTo>
                  <a:pt x="355600" y="121057"/>
                  <a:pt x="345668" y="111125"/>
                  <a:pt x="333375" y="111125"/>
                </a:cubicBezTo>
                <a:cubicBezTo>
                  <a:pt x="321082" y="111125"/>
                  <a:pt x="311150" y="121057"/>
                  <a:pt x="311150" y="133350"/>
                </a:cubicBezTo>
                <a:lnTo>
                  <a:pt x="311150" y="144463"/>
                </a:lnTo>
                <a:lnTo>
                  <a:pt x="288925" y="144463"/>
                </a:lnTo>
                <a:lnTo>
                  <a:pt x="288925" y="133350"/>
                </a:lnTo>
                <a:cubicBezTo>
                  <a:pt x="288925" y="121057"/>
                  <a:pt x="278993" y="111125"/>
                  <a:pt x="266700" y="111125"/>
                </a:cubicBezTo>
                <a:cubicBezTo>
                  <a:pt x="254407" y="111125"/>
                  <a:pt x="244475" y="121057"/>
                  <a:pt x="244475" y="133350"/>
                </a:cubicBezTo>
                <a:lnTo>
                  <a:pt x="244475" y="155575"/>
                </a:lnTo>
                <a:cubicBezTo>
                  <a:pt x="244475" y="171133"/>
                  <a:pt x="237391" y="185023"/>
                  <a:pt x="226278" y="194191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000" y="4889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INCUMBENT MOTION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0" y="52197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Portals pushing broker CRM SaaS, proptech leaders hitting profitability at Rs.2,000 Cr+ — broker-tooling layer contested now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2000" y="7112000"/>
            <a:ext cx="762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Sources: Colliers India 2026, MoHUA RERA data via eXp Realty, IMARC Group, NAR/Real Trends research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000" y="7556500"/>
            <a:ext cx="14732000" cy="8890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2000" y="7556500"/>
            <a:ext cx="50800" cy="889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36" name="Text 34"/>
          <p:cNvSpPr/>
          <p:nvPr/>
        </p:nvSpPr>
        <p:spPr>
          <a:xfrm>
            <a:off x="1066800" y="7645400"/>
            <a:ext cx="1409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now: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capability inflection + WhatsApp business-messaging maturity + RERA formalization + rising portal lead costs squeezing broker ROI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8" name="Text 36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LEAKING FUNNEL — WHERE DEALS DIE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CP firm generates 400-1,500 leads/month. Here is where the money dies: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06600"/>
            <a:ext cx="4699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2006600"/>
            <a:ext cx="4699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22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 LEAK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16000" y="2603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78%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16000" y="3111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first responder. Avg. response time: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15+ hours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Sub-5-min response = 21x qualification odds.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78500" y="2006600"/>
            <a:ext cx="4699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78500" y="2006600"/>
            <a:ext cx="4699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3" name="Text 11"/>
          <p:cNvSpPr/>
          <p:nvPr/>
        </p:nvSpPr>
        <p:spPr>
          <a:xfrm>
            <a:off x="6032500" y="222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QUALIFICATION LEAK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32500" y="2603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&lt;30%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032500" y="3111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leads ever fully qualified. Agents cherry-pick by gut; the rest are never profiled on budget, location, timeline.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95000" y="2006600"/>
            <a:ext cx="4699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95000" y="2006600"/>
            <a:ext cx="4699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8" name="Text 16"/>
          <p:cNvSpPr/>
          <p:nvPr/>
        </p:nvSpPr>
        <p:spPr>
          <a:xfrm>
            <a:off x="11049000" y="2222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FOLLOW-UP LEAK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049000" y="2603500"/>
            <a:ext cx="4191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1-2x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1049000" y="3111500"/>
            <a:ext cx="419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Most agents stop after 1-2 attempts. Purchases take 4-26 weeks; nobody nurtures week 6.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2000" y="4737100"/>
            <a:ext cx="723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000" y="4737100"/>
            <a:ext cx="7239000" cy="508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4953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 LEAK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16000" y="53340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Context lives in agents' chats and heads. When they leave, the pipeline resets.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system of record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owner has zero funnel visibility.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55000" y="4737100"/>
            <a:ext cx="723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55000" y="4737100"/>
            <a:ext cx="7239000" cy="508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8509000" y="4953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COVERAGE LEAK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509000" y="5334000"/>
            <a:ext cx="6731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genuine buyer not matching firm's inventory is discarded. Informal 50:50 sharing exists precisely because this is universal — but runs on trust and luck, not infrastructure.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6985000"/>
            <a:ext cx="14732000" cy="13970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2000" y="6985000"/>
            <a:ext cx="50800" cy="1397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31" name="Text 29"/>
          <p:cNvSpPr/>
          <p:nvPr/>
        </p:nvSpPr>
        <p:spPr>
          <a:xfrm>
            <a:off x="1066800" y="7112000"/>
            <a:ext cx="1417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insight: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first four leaks are a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software problem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(speed, thoroughness, persistence, memory — exactly what machines do and tired humans don't). The fifth leak is a </a:t>
            </a:r>
            <a:pPr algn="l">
              <a:lnSpc>
                <a:spcPct val="15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problem</a:t>
            </a:r>
            <a:pPr algn="l">
              <a:lnSpc>
                <a:spcPct val="15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no single broker can fix it alone. GoSumo is built as software that graduates into a network.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SEGMENTS &amp; BEACHHEAD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207000"/>
        </p:xfrm>
        <a:graphic>
          <a:graphicData uri="http://schemas.openxmlformats.org/drawingml/2006/table">
            <a:tbl>
              <a:tblPr/>
              <a:tblGrid>
                <a:gridCol w="2062480"/>
                <a:gridCol w="4272280"/>
                <a:gridCol w="4272280"/>
                <a:gridCol w="4124960"/>
              </a:tblGrid>
              <a:tr h="5207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Tier 1 — Solo Broker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Tier 2 — CP Firm (3-15 agents)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Tier 3 — Developer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 leads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30-150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200-1,500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500-5,000 per launch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Sources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Portals, referrals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Meta ads, portals, developer allocations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Meta/Google, portals, hoardings, CP network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Today's stack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WhatsApp + memory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Excel / basic CRM, maybe 1 telecaller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CRM + pre-sales telecalling floor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Pain point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Leads rot during site visits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follow-up discipline; owner blind; agents hoard leads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Telecaller cost/attrition; night &amp; weekend leads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Budget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Rs.2-5K/mo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Rs.8-15K/mo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Rs.25-60K/mo/project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Sales cycle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Same day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1-2 meetings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3-6 weeks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962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Role in strategy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Volume + exchange liquidity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BEACHHEAD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Anchor inventory suppliers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7048500"/>
            <a:ext cx="14732000" cy="13335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7048500"/>
            <a:ext cx="50800" cy="1333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717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TIER-2 CP FIRMS IN ONE CORRIDOR?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800" y="7556500"/>
            <a:ext cx="14173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Pain x budget x referenceability. Broker communities are hyper-local and referral-driven. Both network layers (intelligence and exchange)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ignite at local density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Ten brokers scattered across India is a mailing list; ten brokers on one corridor is a market.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6_Abstract_Neural_Network_Web_on_Dark.png">    </p:cNvPr>
          <p:cNvPicPr>
            <a:picLocks noChangeAspect="1"/>
          </p:cNvPicPr>
          <p:nvPr/>
        </p:nvPicPr>
        <p:blipFill>
          <a:blip r:embed="rId1"/>
          <a:srcRect l="0" r="0" t="21875" b="21875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Lead Manager on WhatsApp — the revenue operating system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LEAD JOURNEY — FROM CAPTURE TO CLOSE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863600" y="1778000"/>
            <a:ext cx="558800" cy="5588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6" name="Text 4"/>
          <p:cNvSpPr/>
          <p:nvPr/>
        </p:nvSpPr>
        <p:spPr>
          <a:xfrm>
            <a:off x="863600" y="177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87500" y="1752600"/>
            <a:ext cx="222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CAPTURE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082800"/>
            <a:ext cx="2222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T+0s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2000" y="25400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source, one pipeline: WhatsApp, Meta Lead Ads, portal emails, missed calls, CSV. Attribution recorded at birth.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6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4673600" y="1778000"/>
            <a:ext cx="558800" cy="5588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2" name="Text 10"/>
          <p:cNvSpPr/>
          <p:nvPr/>
        </p:nvSpPr>
        <p:spPr>
          <a:xfrm>
            <a:off x="4673600" y="177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97500" y="1752600"/>
            <a:ext cx="2222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7500" y="2082800"/>
            <a:ext cx="2222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T+30s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2540000"/>
            <a:ext cx="304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opens in buyer's language, aware of exact property, asks first qualification question naturally.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87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8483600" y="1778000"/>
            <a:ext cx="558800" cy="5588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8" name="Text 16"/>
          <p:cNvSpPr/>
          <p:nvPr/>
        </p:nvSpPr>
        <p:spPr>
          <a:xfrm>
            <a:off x="8483600" y="177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207500" y="1752600"/>
            <a:ext cx="241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QUALIFY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07500" y="2082800"/>
            <a:ext cx="241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T+5min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82000" y="2540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Conversational BLTC extraction — Budget, Location, Timeline, Configuration. Output: scored lead (Hot/Warm/Cold).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684000" y="1968500"/>
            <a:ext cx="3810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2293600" y="1778000"/>
            <a:ext cx="558800" cy="5588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24" name="Text 22"/>
          <p:cNvSpPr/>
          <p:nvPr/>
        </p:nvSpPr>
        <p:spPr>
          <a:xfrm>
            <a:off x="12293600" y="177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017500" y="1752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192000" y="2540000"/>
            <a:ext cx="330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Requirements matched against verified project fact sheets. Shares 1-3 best fits with brochures, floor plans, price sheets.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62000" y="39370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28" name="Shape 26"/>
          <p:cNvSpPr/>
          <p:nvPr/>
        </p:nvSpPr>
        <p:spPr>
          <a:xfrm>
            <a:off x="863600" y="4318000"/>
            <a:ext cx="558800" cy="558800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29" name="Text 27"/>
          <p:cNvSpPr/>
          <p:nvPr/>
        </p:nvSpPr>
        <p:spPr>
          <a:xfrm>
            <a:off x="863600" y="431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87500" y="4292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SITE VISIT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5080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Slots from broker's calendar, booked, confirmed, reminded at T-24h and T-2h with pin. Rescheduled autonomously.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064000" y="4597400"/>
            <a:ext cx="381000" cy="0"/>
          </a:xfrm>
          <a:prstGeom prst="straightConnector1">
            <a:avLst/>
          </a:prstGeom>
          <a:noFill/>
          <a:ln w="25400">
            <a:solidFill>
              <a:srgbClr val="1B1B2F"/>
            </a:solidFill>
            <a:prstDash val="solid"/>
            <a:headEnd type="none"/>
            <a:tailEnd type="arrow"/>
          </a:ln>
        </p:spPr>
      </p:sp>
      <p:sp>
        <p:nvSpPr>
          <p:cNvPr id="33" name="Shape 31"/>
          <p:cNvSpPr/>
          <p:nvPr/>
        </p:nvSpPr>
        <p:spPr>
          <a:xfrm>
            <a:off x="4673600" y="4318000"/>
            <a:ext cx="558800" cy="558800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34" name="Text 32"/>
          <p:cNvSpPr/>
          <p:nvPr/>
        </p:nvSpPr>
        <p:spPr>
          <a:xfrm>
            <a:off x="4673600" y="431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97500" y="4292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HOT HANDOFF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0" y="5080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a lead asks to negotiate or crosses hot threshold, broker gets 5-line dossier with one-tap chat takeover.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7874000" y="4597400"/>
            <a:ext cx="381000" cy="0"/>
          </a:xfrm>
          <a:prstGeom prst="straightConnector1">
            <a:avLst/>
          </a:prstGeom>
          <a:noFill/>
          <a:ln w="25400">
            <a:solidFill>
              <a:srgbClr val="1B1B2F"/>
            </a:solidFill>
            <a:prstDash val="solid"/>
            <a:headEnd type="none"/>
            <a:tailEnd type="arrow"/>
          </a:ln>
        </p:spPr>
      </p:sp>
      <p:sp>
        <p:nvSpPr>
          <p:cNvPr id="38" name="Shape 36"/>
          <p:cNvSpPr/>
          <p:nvPr/>
        </p:nvSpPr>
        <p:spPr>
          <a:xfrm>
            <a:off x="8483600" y="4318000"/>
            <a:ext cx="558800" cy="558800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39" name="Text 37"/>
          <p:cNvSpPr/>
          <p:nvPr/>
        </p:nvSpPr>
        <p:spPr>
          <a:xfrm>
            <a:off x="8483600" y="431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9207500" y="42926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8382000" y="5080000"/>
            <a:ext cx="304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Non-responders enter value-adding cadences at Day 1/3/7/14/30/60/90. Fully WhatsApp compliant with instant opt-out.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1684000" y="4597400"/>
            <a:ext cx="381000" cy="0"/>
          </a:xfrm>
          <a:prstGeom prst="straightConnector1">
            <a:avLst/>
          </a:prstGeom>
          <a:noFill/>
          <a:ln w="25400">
            <a:solidFill>
              <a:srgbClr val="1B1B2F"/>
            </a:solidFill>
            <a:prstDash val="solid"/>
            <a:headEnd type="none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12293600" y="4318000"/>
            <a:ext cx="558800" cy="558800"/>
          </a:xfrm>
          <a:prstGeom prst="ellipse">
            <a:avLst/>
          </a:prstGeom>
          <a:solidFill>
            <a:srgbClr val="1B1B2F"/>
          </a:solidFill>
          <a:ln/>
        </p:spPr>
      </p:sp>
      <p:sp>
        <p:nvSpPr>
          <p:cNvPr id="44" name="Text 42"/>
          <p:cNvSpPr/>
          <p:nvPr/>
        </p:nvSpPr>
        <p:spPr>
          <a:xfrm>
            <a:off x="12293600" y="4318000"/>
            <a:ext cx="5588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3017500" y="4292600"/>
            <a:ext cx="24765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2192000" y="5080000"/>
            <a:ext cx="3302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fact, objection, and promise survives. The March enquirer who returns in June is greeted with full context.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62000" y="6540500"/>
            <a:ext cx="14732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2000" y="6540500"/>
            <a:ext cx="50800" cy="177800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9" name="Text 47"/>
          <p:cNvSpPr/>
          <p:nvPr/>
        </p:nvSpPr>
        <p:spPr>
          <a:xfrm>
            <a:off x="1066800" y="66294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25D3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LIVE CONVERSATION EXAMPLE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66800" y="6921500"/>
            <a:ext cx="14173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Buyer: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"Hi, 2bhk ka price kya hai Baner me?"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GoSumo: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"Ye Serene Heights, Baner ka 2BHK — 1,050 sq.ft, Rs.92L onwards. Aap khud ke rehne ke liye?" </a:t>
            </a:r>
            <a:pPr algn="l">
              <a:lnSpc>
                <a:spcPct val="160000"/>
              </a:lnSpc>
            </a:pPr>
            <a:r>
              <a:rPr lang="en-US" sz="13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-&gt; Budget, timeline, configuration extracted -&gt; Site visit booked Sunday 11am -&gt; Loan pre-approval offered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52" name="Text 50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FIVE JOBS OF GOSUMO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6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07340" y="-7858"/>
                </a:moveTo>
                <a:cubicBezTo>
                  <a:pt x="318135" y="-1032"/>
                  <a:pt x="322126" y="11351"/>
                  <a:pt x="317228" y="22146"/>
                </a:cubicBezTo>
                <a:lnTo>
                  <a:pt x="246108" y="177800"/>
                </a:lnTo>
                <a:lnTo>
                  <a:pt x="377371" y="177800"/>
                </a:lnTo>
                <a:cubicBezTo>
                  <a:pt x="389618" y="177800"/>
                  <a:pt x="400504" y="184468"/>
                  <a:pt x="404676" y="194548"/>
                </a:cubicBezTo>
                <a:cubicBezTo>
                  <a:pt x="408849" y="204629"/>
                  <a:pt x="405311" y="215900"/>
                  <a:pt x="395968" y="222726"/>
                </a:cubicBezTo>
                <a:lnTo>
                  <a:pt x="134711" y="413226"/>
                </a:lnTo>
                <a:cubicBezTo>
                  <a:pt x="124460" y="420688"/>
                  <a:pt x="109855" y="421084"/>
                  <a:pt x="99060" y="414258"/>
                </a:cubicBezTo>
                <a:cubicBezTo>
                  <a:pt x="88265" y="407432"/>
                  <a:pt x="84274" y="395049"/>
                  <a:pt x="89172" y="384254"/>
                </a:cubicBezTo>
                <a:lnTo>
                  <a:pt x="160292" y="228600"/>
                </a:lnTo>
                <a:lnTo>
                  <a:pt x="29029" y="228600"/>
                </a:lnTo>
                <a:cubicBezTo>
                  <a:pt x="16782" y="228600"/>
                  <a:pt x="5896" y="221933"/>
                  <a:pt x="1724" y="211852"/>
                </a:cubicBezTo>
                <a:cubicBezTo>
                  <a:pt x="-2449" y="201771"/>
                  <a:pt x="1089" y="190500"/>
                  <a:pt x="10432" y="183674"/>
                </a:cubicBezTo>
                <a:lnTo>
                  <a:pt x="271689" y="-6826"/>
                </a:lnTo>
                <a:cubicBezTo>
                  <a:pt x="281940" y="-14288"/>
                  <a:pt x="296545" y="-14684"/>
                  <a:pt x="307340" y="-7858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8034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28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lead answered in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seconds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24/7. No more leads rotting during site visits or after hours.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8500" y="15875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5400" y="50800"/>
                </a:moveTo>
                <a:cubicBezTo>
                  <a:pt x="15161" y="50800"/>
                  <a:pt x="5874" y="56991"/>
                  <a:pt x="1905" y="66516"/>
                </a:cubicBezTo>
                <a:cubicBezTo>
                  <a:pt x="-2064" y="76041"/>
                  <a:pt x="159" y="86916"/>
                  <a:pt x="7461" y="94139"/>
                </a:cubicBezTo>
                <a:lnTo>
                  <a:pt x="152400" y="239157"/>
                </a:lnTo>
                <a:lnTo>
                  <a:pt x="152400" y="330200"/>
                </a:lnTo>
                <a:cubicBezTo>
                  <a:pt x="152400" y="336947"/>
                  <a:pt x="155099" y="343376"/>
                  <a:pt x="159861" y="348139"/>
                </a:cubicBezTo>
                <a:lnTo>
                  <a:pt x="210661" y="398939"/>
                </a:lnTo>
                <a:cubicBezTo>
                  <a:pt x="217964" y="406241"/>
                  <a:pt x="228838" y="408384"/>
                  <a:pt x="238363" y="404416"/>
                </a:cubicBezTo>
                <a:cubicBezTo>
                  <a:pt x="247888" y="400447"/>
                  <a:pt x="254000" y="391239"/>
                  <a:pt x="254000" y="381000"/>
                </a:cubicBezTo>
                <a:lnTo>
                  <a:pt x="254000" y="239157"/>
                </a:lnTo>
                <a:lnTo>
                  <a:pt x="398939" y="94218"/>
                </a:lnTo>
                <a:cubicBezTo>
                  <a:pt x="406241" y="86916"/>
                  <a:pt x="408384" y="76041"/>
                  <a:pt x="404416" y="66516"/>
                </a:cubicBezTo>
                <a:cubicBezTo>
                  <a:pt x="400447" y="56991"/>
                  <a:pt x="391239" y="50800"/>
                  <a:pt x="381000" y="50800"/>
                </a:cubicBezTo>
                <a:lnTo>
                  <a:pt x="25400" y="50800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0" y="18034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QUALIFICATION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32500" y="228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 only talk to buyers with a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budget, a locality, and a timeline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BLTC extraction in 5 minutes.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795000" y="1587500"/>
            <a:ext cx="469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049000" y="177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6114" y="0"/>
                </a:moveTo>
                <a:cubicBezTo>
                  <a:pt x="132171" y="0"/>
                  <a:pt x="145143" y="11351"/>
                  <a:pt x="145143" y="25400"/>
                </a:cubicBezTo>
                <a:lnTo>
                  <a:pt x="145143" y="50800"/>
                </a:lnTo>
                <a:lnTo>
                  <a:pt x="261257" y="50800"/>
                </a:lnTo>
                <a:lnTo>
                  <a:pt x="261257" y="25400"/>
                </a:lnTo>
                <a:cubicBezTo>
                  <a:pt x="261257" y="11351"/>
                  <a:pt x="274229" y="0"/>
                  <a:pt x="290286" y="0"/>
                </a:cubicBezTo>
                <a:cubicBezTo>
                  <a:pt x="306342" y="0"/>
                  <a:pt x="319314" y="11351"/>
                  <a:pt x="319314" y="25400"/>
                </a:cubicBezTo>
                <a:lnTo>
                  <a:pt x="319314" y="50800"/>
                </a:lnTo>
                <a:lnTo>
                  <a:pt x="348343" y="50800"/>
                </a:lnTo>
                <a:cubicBezTo>
                  <a:pt x="380365" y="50800"/>
                  <a:pt x="406400" y="73581"/>
                  <a:pt x="406400" y="101600"/>
                </a:cubicBezTo>
                <a:lnTo>
                  <a:pt x="406400" y="330200"/>
                </a:lnTo>
                <a:cubicBezTo>
                  <a:pt x="406400" y="358219"/>
                  <a:pt x="380365" y="381000"/>
                  <a:pt x="348343" y="381000"/>
                </a:cubicBezTo>
                <a:lnTo>
                  <a:pt x="58057" y="381000"/>
                </a:lnTo>
                <a:cubicBezTo>
                  <a:pt x="26035" y="381000"/>
                  <a:pt x="0" y="358219"/>
                  <a:pt x="0" y="330200"/>
                </a:cubicBezTo>
                <a:lnTo>
                  <a:pt x="0" y="101600"/>
                </a:lnTo>
                <a:cubicBezTo>
                  <a:pt x="0" y="73581"/>
                  <a:pt x="26035" y="50800"/>
                  <a:pt x="58057" y="50800"/>
                </a:cubicBezTo>
                <a:lnTo>
                  <a:pt x="87086" y="50800"/>
                </a:lnTo>
                <a:lnTo>
                  <a:pt x="87086" y="25400"/>
                </a:lnTo>
                <a:cubicBezTo>
                  <a:pt x="87086" y="11351"/>
                  <a:pt x="100058" y="0"/>
                  <a:pt x="116114" y="0"/>
                </a:cubicBezTo>
                <a:close/>
                <a:moveTo>
                  <a:pt x="279763" y="181531"/>
                </a:moveTo>
                <a:cubicBezTo>
                  <a:pt x="286113" y="172641"/>
                  <a:pt x="283029" y="160893"/>
                  <a:pt x="272869" y="155258"/>
                </a:cubicBezTo>
                <a:cubicBezTo>
                  <a:pt x="262709" y="149622"/>
                  <a:pt x="249283" y="152400"/>
                  <a:pt x="242842" y="161290"/>
                </a:cubicBezTo>
                <a:lnTo>
                  <a:pt x="187144" y="239316"/>
                </a:lnTo>
                <a:lnTo>
                  <a:pt x="162651" y="210741"/>
                </a:lnTo>
                <a:cubicBezTo>
                  <a:pt x="155394" y="202327"/>
                  <a:pt x="141786" y="200581"/>
                  <a:pt x="132171" y="206931"/>
                </a:cubicBezTo>
                <a:cubicBezTo>
                  <a:pt x="122555" y="213281"/>
                  <a:pt x="120559" y="225187"/>
                  <a:pt x="127816" y="233601"/>
                </a:cubicBezTo>
                <a:lnTo>
                  <a:pt x="171359" y="284401"/>
                </a:lnTo>
                <a:cubicBezTo>
                  <a:pt x="175623" y="289401"/>
                  <a:pt x="182517" y="292259"/>
                  <a:pt x="189684" y="292021"/>
                </a:cubicBezTo>
                <a:cubicBezTo>
                  <a:pt x="196850" y="291783"/>
                  <a:pt x="203381" y="288449"/>
                  <a:pt x="207191" y="283051"/>
                </a:cubicBezTo>
                <a:lnTo>
                  <a:pt x="279763" y="181451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15" name="Text 13"/>
          <p:cNvSpPr/>
          <p:nvPr/>
        </p:nvSpPr>
        <p:spPr>
          <a:xfrm>
            <a:off x="11620500" y="18034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SITE VISITS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49000" y="2286000"/>
            <a:ext cx="419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calendar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fills itself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Reminders at T-24h and T-2h crush no-shows. Rescheduling is autonomous.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723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81079" y="152400"/>
                </a:moveTo>
                <a:lnTo>
                  <a:pt x="387350" y="152400"/>
                </a:lnTo>
                <a:cubicBezTo>
                  <a:pt x="397907" y="152400"/>
                  <a:pt x="406400" y="143907"/>
                  <a:pt x="406400" y="133350"/>
                </a:cubicBezTo>
                <a:lnTo>
                  <a:pt x="406400" y="19050"/>
                </a:lnTo>
                <a:cubicBezTo>
                  <a:pt x="406400" y="11351"/>
                  <a:pt x="401796" y="4366"/>
                  <a:pt x="394652" y="1429"/>
                </a:cubicBezTo>
                <a:cubicBezTo>
                  <a:pt x="387509" y="-1508"/>
                  <a:pt x="379333" y="159"/>
                  <a:pt x="373856" y="5556"/>
                </a:cubicBezTo>
                <a:lnTo>
                  <a:pt x="332819" y="46673"/>
                </a:lnTo>
                <a:cubicBezTo>
                  <a:pt x="297656" y="17542"/>
                  <a:pt x="252413" y="0"/>
                  <a:pt x="203200" y="0"/>
                </a:cubicBezTo>
                <a:cubicBezTo>
                  <a:pt x="100806" y="0"/>
                  <a:pt x="16113" y="75724"/>
                  <a:pt x="2064" y="174228"/>
                </a:cubicBezTo>
                <a:cubicBezTo>
                  <a:pt x="79" y="188119"/>
                  <a:pt x="9684" y="200978"/>
                  <a:pt x="23574" y="202962"/>
                </a:cubicBezTo>
                <a:cubicBezTo>
                  <a:pt x="37465" y="204946"/>
                  <a:pt x="50324" y="195263"/>
                  <a:pt x="52308" y="181451"/>
                </a:cubicBezTo>
                <a:cubicBezTo>
                  <a:pt x="62865" y="107553"/>
                  <a:pt x="126444" y="50800"/>
                  <a:pt x="203200" y="50800"/>
                </a:cubicBezTo>
                <a:cubicBezTo>
                  <a:pt x="238442" y="50800"/>
                  <a:pt x="270828" y="62706"/>
                  <a:pt x="296624" y="82788"/>
                </a:cubicBezTo>
                <a:lnTo>
                  <a:pt x="259556" y="119856"/>
                </a:lnTo>
                <a:cubicBezTo>
                  <a:pt x="254079" y="125333"/>
                  <a:pt x="252492" y="133509"/>
                  <a:pt x="255429" y="140652"/>
                </a:cubicBezTo>
                <a:cubicBezTo>
                  <a:pt x="258366" y="147796"/>
                  <a:pt x="265351" y="152400"/>
                  <a:pt x="273050" y="152400"/>
                </a:cubicBezTo>
                <a:lnTo>
                  <a:pt x="381079" y="152400"/>
                </a:lnTo>
                <a:close/>
                <a:moveTo>
                  <a:pt x="404416" y="232172"/>
                </a:moveTo>
                <a:cubicBezTo>
                  <a:pt x="406400" y="218281"/>
                  <a:pt x="396716" y="205423"/>
                  <a:pt x="382905" y="203438"/>
                </a:cubicBezTo>
                <a:cubicBezTo>
                  <a:pt x="369094" y="201454"/>
                  <a:pt x="356156" y="211138"/>
                  <a:pt x="354171" y="224949"/>
                </a:cubicBezTo>
                <a:cubicBezTo>
                  <a:pt x="343614" y="298768"/>
                  <a:pt x="280035" y="355521"/>
                  <a:pt x="203279" y="355521"/>
                </a:cubicBezTo>
                <a:cubicBezTo>
                  <a:pt x="168037" y="355521"/>
                  <a:pt x="135652" y="343614"/>
                  <a:pt x="109855" y="323533"/>
                </a:cubicBezTo>
                <a:lnTo>
                  <a:pt x="146844" y="286544"/>
                </a:lnTo>
                <a:cubicBezTo>
                  <a:pt x="152321" y="281067"/>
                  <a:pt x="153908" y="272891"/>
                  <a:pt x="150971" y="265748"/>
                </a:cubicBezTo>
                <a:cubicBezTo>
                  <a:pt x="148034" y="258604"/>
                  <a:pt x="141049" y="254000"/>
                  <a:pt x="133350" y="254000"/>
                </a:cubicBezTo>
                <a:lnTo>
                  <a:pt x="19050" y="254000"/>
                </a:lnTo>
                <a:cubicBezTo>
                  <a:pt x="8493" y="254000"/>
                  <a:pt x="0" y="262493"/>
                  <a:pt x="0" y="273050"/>
                </a:cubicBezTo>
                <a:lnTo>
                  <a:pt x="0" y="387350"/>
                </a:lnTo>
                <a:cubicBezTo>
                  <a:pt x="0" y="395049"/>
                  <a:pt x="4604" y="402034"/>
                  <a:pt x="11748" y="404971"/>
                </a:cubicBezTo>
                <a:cubicBezTo>
                  <a:pt x="18891" y="407908"/>
                  <a:pt x="27067" y="406241"/>
                  <a:pt x="32544" y="400844"/>
                </a:cubicBezTo>
                <a:lnTo>
                  <a:pt x="73660" y="359728"/>
                </a:lnTo>
                <a:cubicBezTo>
                  <a:pt x="108744" y="388858"/>
                  <a:pt x="153988" y="406400"/>
                  <a:pt x="203200" y="406400"/>
                </a:cubicBezTo>
                <a:cubicBezTo>
                  <a:pt x="305594" y="406400"/>
                  <a:pt x="390287" y="330676"/>
                  <a:pt x="404336" y="232172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19" name="Text 17"/>
          <p:cNvSpPr/>
          <p:nvPr/>
        </p:nvSpPr>
        <p:spPr>
          <a:xfrm>
            <a:off x="1587500" y="36449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FOLLOW-UP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16000" y="41275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lead forgotten for 90 days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ever. Value-adding cadences at Day 1/3/7/14/30/60/90 — new inventory, price trends, construction milestones.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55000" y="3429000"/>
            <a:ext cx="7239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9000" y="3619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3" name="Text 21"/>
          <p:cNvSpPr/>
          <p:nvPr/>
        </p:nvSpPr>
        <p:spPr>
          <a:xfrm>
            <a:off x="9080500" y="3644900"/>
            <a:ext cx="3556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MEMORY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509000" y="4127500"/>
            <a:ext cx="673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buyer's history, forever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searchable. The March enquirer returning in June is greeted with full context — the one behavior no human sales floor sustains.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62000" y="5334000"/>
            <a:ext cx="635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2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THE BROKER EXPERIENCES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62000" y="590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59148" y="57805"/>
                </a:moveTo>
                <a:cubicBezTo>
                  <a:pt x="230641" y="32802"/>
                  <a:pt x="192677" y="19050"/>
                  <a:pt x="152332" y="19050"/>
                </a:cubicBezTo>
                <a:cubicBezTo>
                  <a:pt x="69056" y="19050"/>
                  <a:pt x="1293" y="78343"/>
                  <a:pt x="1293" y="151209"/>
                </a:cubicBezTo>
                <a:cubicBezTo>
                  <a:pt x="1293" y="174486"/>
                  <a:pt x="8232" y="197227"/>
                  <a:pt x="21431" y="217289"/>
                </a:cubicBezTo>
                <a:lnTo>
                  <a:pt x="0" y="285750"/>
                </a:lnTo>
                <a:lnTo>
                  <a:pt x="80078" y="267355"/>
                </a:lnTo>
                <a:cubicBezTo>
                  <a:pt x="102122" y="277892"/>
                  <a:pt x="126955" y="283428"/>
                  <a:pt x="152264" y="283428"/>
                </a:cubicBezTo>
                <a:lnTo>
                  <a:pt x="152332" y="283428"/>
                </a:lnTo>
                <a:cubicBezTo>
                  <a:pt x="235540" y="283428"/>
                  <a:pt x="304800" y="224135"/>
                  <a:pt x="304800" y="151269"/>
                </a:cubicBezTo>
                <a:cubicBezTo>
                  <a:pt x="304800" y="115967"/>
                  <a:pt x="287655" y="82808"/>
                  <a:pt x="259148" y="57805"/>
                </a:cubicBezTo>
                <a:close/>
                <a:moveTo>
                  <a:pt x="152332" y="261164"/>
                </a:moveTo>
                <a:cubicBezTo>
                  <a:pt x="129744" y="261164"/>
                  <a:pt x="107632" y="255865"/>
                  <a:pt x="88378" y="245864"/>
                </a:cubicBezTo>
                <a:lnTo>
                  <a:pt x="83820" y="243483"/>
                </a:lnTo>
                <a:lnTo>
                  <a:pt x="36331" y="254377"/>
                </a:lnTo>
                <a:lnTo>
                  <a:pt x="48986" y="213836"/>
                </a:lnTo>
                <a:lnTo>
                  <a:pt x="45992" y="209669"/>
                </a:lnTo>
                <a:cubicBezTo>
                  <a:pt x="33406" y="192167"/>
                  <a:pt x="26806" y="171986"/>
                  <a:pt x="26806" y="151209"/>
                </a:cubicBezTo>
                <a:cubicBezTo>
                  <a:pt x="26806" y="90666"/>
                  <a:pt x="83140" y="41374"/>
                  <a:pt x="152400" y="41374"/>
                </a:cubicBezTo>
                <a:cubicBezTo>
                  <a:pt x="185942" y="41374"/>
                  <a:pt x="217442" y="52804"/>
                  <a:pt x="241119" y="73581"/>
                </a:cubicBezTo>
                <a:cubicBezTo>
                  <a:pt x="264795" y="94357"/>
                  <a:pt x="279355" y="121920"/>
                  <a:pt x="279287" y="151269"/>
                </a:cubicBezTo>
                <a:cubicBezTo>
                  <a:pt x="279287" y="211872"/>
                  <a:pt x="221524" y="261164"/>
                  <a:pt x="152332" y="261164"/>
                </a:cubicBezTo>
                <a:close/>
                <a:moveTo>
                  <a:pt x="221184" y="178891"/>
                </a:moveTo>
                <a:cubicBezTo>
                  <a:pt x="217442" y="177225"/>
                  <a:pt x="198868" y="169247"/>
                  <a:pt x="195399" y="168176"/>
                </a:cubicBezTo>
                <a:cubicBezTo>
                  <a:pt x="191929" y="167045"/>
                  <a:pt x="189411" y="166509"/>
                  <a:pt x="186894" y="169843"/>
                </a:cubicBezTo>
                <a:cubicBezTo>
                  <a:pt x="184377" y="173176"/>
                  <a:pt x="177165" y="180558"/>
                  <a:pt x="174920" y="182820"/>
                </a:cubicBezTo>
                <a:cubicBezTo>
                  <a:pt x="172743" y="185023"/>
                  <a:pt x="170498" y="185321"/>
                  <a:pt x="166756" y="183654"/>
                </a:cubicBezTo>
                <a:cubicBezTo>
                  <a:pt x="144576" y="173950"/>
                  <a:pt x="130016" y="166330"/>
                  <a:pt x="115389" y="144363"/>
                </a:cubicBezTo>
                <a:cubicBezTo>
                  <a:pt x="111511" y="138529"/>
                  <a:pt x="119267" y="138946"/>
                  <a:pt x="126478" y="126325"/>
                </a:cubicBezTo>
                <a:cubicBezTo>
                  <a:pt x="127703" y="124123"/>
                  <a:pt x="127091" y="122218"/>
                  <a:pt x="126138" y="120551"/>
                </a:cubicBezTo>
                <a:cubicBezTo>
                  <a:pt x="125186" y="118884"/>
                  <a:pt x="117634" y="102632"/>
                  <a:pt x="114504" y="96024"/>
                </a:cubicBezTo>
                <a:cubicBezTo>
                  <a:pt x="111443" y="89595"/>
                  <a:pt x="108313" y="90488"/>
                  <a:pt x="106000" y="90368"/>
                </a:cubicBezTo>
                <a:cubicBezTo>
                  <a:pt x="103823" y="90249"/>
                  <a:pt x="101305" y="90249"/>
                  <a:pt x="98788" y="90249"/>
                </a:cubicBezTo>
                <a:cubicBezTo>
                  <a:pt x="96271" y="90249"/>
                  <a:pt x="92188" y="91083"/>
                  <a:pt x="88719" y="94357"/>
                </a:cubicBezTo>
                <a:cubicBezTo>
                  <a:pt x="85249" y="97691"/>
                  <a:pt x="75520" y="105668"/>
                  <a:pt x="75520" y="121920"/>
                </a:cubicBezTo>
                <a:cubicBezTo>
                  <a:pt x="75520" y="138172"/>
                  <a:pt x="89059" y="153888"/>
                  <a:pt x="90896" y="156091"/>
                </a:cubicBezTo>
                <a:cubicBezTo>
                  <a:pt x="92801" y="158294"/>
                  <a:pt x="117498" y="191631"/>
                  <a:pt x="155394" y="205978"/>
                </a:cubicBezTo>
                <a:cubicBezTo>
                  <a:pt x="179342" y="215027"/>
                  <a:pt x="188731" y="215801"/>
                  <a:pt x="200705" y="214253"/>
                </a:cubicBezTo>
                <a:cubicBezTo>
                  <a:pt x="207985" y="213300"/>
                  <a:pt x="223021" y="206276"/>
                  <a:pt x="226151" y="198537"/>
                </a:cubicBezTo>
                <a:cubicBezTo>
                  <a:pt x="229280" y="190798"/>
                  <a:pt x="229280" y="184190"/>
                  <a:pt x="228328" y="182820"/>
                </a:cubicBezTo>
                <a:cubicBezTo>
                  <a:pt x="227443" y="181332"/>
                  <a:pt x="224926" y="180499"/>
                  <a:pt x="221184" y="178891"/>
                </a:cubicBezTo>
                <a:close/>
              </a:path>
            </a:pathLst>
          </a:custGeom>
          <a:solidFill>
            <a:srgbClr val="25D366"/>
          </a:solidFill>
          <a:ln/>
        </p:spPr>
      </p:sp>
      <p:sp>
        <p:nvSpPr>
          <p:cNvPr id="27" name="Text 25"/>
          <p:cNvSpPr/>
          <p:nvPr/>
        </p:nvSpPr>
        <p:spPr>
          <a:xfrm>
            <a:off x="1206500" y="5905500"/>
            <a:ext cx="330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WHATSAPP IS THE CONSOLE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6500" y="62230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Morning briefing at 7:30, real-time hot-lead dossiers, chat-to-manage commands — no software to learn.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62000" y="692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00" y="38100"/>
                </a:moveTo>
                <a:cubicBezTo>
                  <a:pt x="12700" y="17085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17085"/>
                  <a:pt x="292100" y="38100"/>
                </a:cubicBezTo>
                <a:lnTo>
                  <a:pt x="292100" y="266700"/>
                </a:lnTo>
                <a:cubicBezTo>
                  <a:pt x="292100" y="287715"/>
                  <a:pt x="269319" y="304800"/>
                  <a:pt x="241300" y="304800"/>
                </a:cubicBezTo>
                <a:lnTo>
                  <a:pt x="63500" y="304800"/>
                </a:lnTo>
                <a:cubicBezTo>
                  <a:pt x="35481" y="304800"/>
                  <a:pt x="12700" y="287715"/>
                  <a:pt x="12700" y="266700"/>
                </a:cubicBezTo>
                <a:lnTo>
                  <a:pt x="12700" y="38100"/>
                </a:lnTo>
                <a:close/>
                <a:moveTo>
                  <a:pt x="101600" y="261937"/>
                </a:moveTo>
                <a:cubicBezTo>
                  <a:pt x="101600" y="269855"/>
                  <a:pt x="110093" y="276225"/>
                  <a:pt x="120650" y="276225"/>
                </a:cubicBezTo>
                <a:lnTo>
                  <a:pt x="184150" y="276225"/>
                </a:lnTo>
                <a:cubicBezTo>
                  <a:pt x="194707" y="276225"/>
                  <a:pt x="203200" y="269855"/>
                  <a:pt x="203200" y="261937"/>
                </a:cubicBezTo>
                <a:cubicBezTo>
                  <a:pt x="203200" y="254020"/>
                  <a:pt x="194707" y="247650"/>
                  <a:pt x="184150" y="247650"/>
                </a:cubicBezTo>
                <a:lnTo>
                  <a:pt x="120650" y="247650"/>
                </a:lnTo>
                <a:cubicBezTo>
                  <a:pt x="110093" y="247650"/>
                  <a:pt x="101600" y="254020"/>
                  <a:pt x="101600" y="261937"/>
                </a:cubicBezTo>
                <a:close/>
                <a:moveTo>
                  <a:pt x="241300" y="38100"/>
                </a:moveTo>
                <a:lnTo>
                  <a:pt x="63500" y="38100"/>
                </a:lnTo>
                <a:lnTo>
                  <a:pt x="63500" y="219075"/>
                </a:lnTo>
                <a:lnTo>
                  <a:pt x="241300" y="219075"/>
                </a:lnTo>
                <a:lnTo>
                  <a:pt x="241300" y="38100"/>
                </a:lnTo>
                <a:close/>
              </a:path>
            </a:pathLst>
          </a:custGeom>
          <a:solidFill>
            <a:srgbClr val="1B1B2F"/>
          </a:solidFill>
          <a:ln/>
        </p:spPr>
      </p:sp>
      <p:sp>
        <p:nvSpPr>
          <p:cNvPr id="30" name="Text 28"/>
          <p:cNvSpPr/>
          <p:nvPr/>
        </p:nvSpPr>
        <p:spPr>
          <a:xfrm>
            <a:off x="1206500" y="6921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PWA FOR DEPTH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06500" y="7239000"/>
            <a:ext cx="5969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Pipeline board, transcripts, approval queue, source-level ROI analytics.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82000" y="590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2293" y="50721"/>
                </a:moveTo>
                <a:lnTo>
                  <a:pt x="80592" y="127873"/>
                </a:lnTo>
                <a:cubicBezTo>
                  <a:pt x="78158" y="130909"/>
                  <a:pt x="78264" y="135612"/>
                  <a:pt x="80857" y="138529"/>
                </a:cubicBezTo>
                <a:cubicBezTo>
                  <a:pt x="96996" y="156686"/>
                  <a:pt x="123190" y="156686"/>
                  <a:pt x="139330" y="138529"/>
                </a:cubicBezTo>
                <a:lnTo>
                  <a:pt x="156157" y="119598"/>
                </a:lnTo>
                <a:cubicBezTo>
                  <a:pt x="158380" y="117098"/>
                  <a:pt x="161184" y="115729"/>
                  <a:pt x="164042" y="115491"/>
                </a:cubicBezTo>
                <a:cubicBezTo>
                  <a:pt x="167640" y="115133"/>
                  <a:pt x="171344" y="116503"/>
                  <a:pt x="174096" y="119598"/>
                </a:cubicBezTo>
                <a:lnTo>
                  <a:pt x="267547" y="223838"/>
                </a:lnTo>
                <a:lnTo>
                  <a:pt x="304800" y="190500"/>
                </a:lnTo>
                <a:lnTo>
                  <a:pt x="304800" y="19050"/>
                </a:lnTo>
                <a:lnTo>
                  <a:pt x="245533" y="57150"/>
                </a:lnTo>
                <a:lnTo>
                  <a:pt x="232939" y="47685"/>
                </a:lnTo>
                <a:cubicBezTo>
                  <a:pt x="224578" y="41434"/>
                  <a:pt x="214789" y="38100"/>
                  <a:pt x="204735" y="38100"/>
                </a:cubicBezTo>
                <a:lnTo>
                  <a:pt x="167481" y="38100"/>
                </a:lnTo>
                <a:cubicBezTo>
                  <a:pt x="166899" y="38100"/>
                  <a:pt x="166264" y="38100"/>
                  <a:pt x="165682" y="38160"/>
                </a:cubicBezTo>
                <a:cubicBezTo>
                  <a:pt x="156739" y="38695"/>
                  <a:pt x="148325" y="43220"/>
                  <a:pt x="142293" y="50721"/>
                </a:cubicBezTo>
                <a:close/>
                <a:moveTo>
                  <a:pt x="61701" y="108764"/>
                </a:moveTo>
                <a:lnTo>
                  <a:pt x="118216" y="38100"/>
                </a:lnTo>
                <a:lnTo>
                  <a:pt x="97261" y="38100"/>
                </a:lnTo>
                <a:cubicBezTo>
                  <a:pt x="83767" y="38100"/>
                  <a:pt x="70855" y="44113"/>
                  <a:pt x="61330" y="54828"/>
                </a:cubicBezTo>
                <a:lnTo>
                  <a:pt x="59267" y="57150"/>
                </a:lnTo>
                <a:lnTo>
                  <a:pt x="0" y="19050"/>
                </a:lnTo>
                <a:lnTo>
                  <a:pt x="0" y="190500"/>
                </a:lnTo>
                <a:lnTo>
                  <a:pt x="82762" y="268069"/>
                </a:lnTo>
                <a:cubicBezTo>
                  <a:pt x="94932" y="279499"/>
                  <a:pt x="110278" y="285750"/>
                  <a:pt x="126100" y="285750"/>
                </a:cubicBezTo>
                <a:lnTo>
                  <a:pt x="134408" y="285750"/>
                </a:lnTo>
                <a:lnTo>
                  <a:pt x="130704" y="281583"/>
                </a:lnTo>
                <a:cubicBezTo>
                  <a:pt x="125730" y="275987"/>
                  <a:pt x="125730" y="266938"/>
                  <a:pt x="130704" y="261402"/>
                </a:cubicBezTo>
                <a:cubicBezTo>
                  <a:pt x="135678" y="255865"/>
                  <a:pt x="143722" y="255806"/>
                  <a:pt x="148643" y="261402"/>
                </a:cubicBezTo>
                <a:lnTo>
                  <a:pt x="170339" y="285810"/>
                </a:lnTo>
                <a:lnTo>
                  <a:pt x="175101" y="285810"/>
                </a:lnTo>
                <a:cubicBezTo>
                  <a:pt x="185208" y="285810"/>
                  <a:pt x="195104" y="283250"/>
                  <a:pt x="204100" y="278487"/>
                </a:cubicBezTo>
                <a:lnTo>
                  <a:pt x="189971" y="262533"/>
                </a:lnTo>
                <a:cubicBezTo>
                  <a:pt x="184997" y="256937"/>
                  <a:pt x="184997" y="247888"/>
                  <a:pt x="189971" y="242352"/>
                </a:cubicBezTo>
                <a:cubicBezTo>
                  <a:pt x="194945" y="236815"/>
                  <a:pt x="202988" y="236756"/>
                  <a:pt x="207910" y="242352"/>
                </a:cubicBezTo>
                <a:lnTo>
                  <a:pt x="224843" y="261402"/>
                </a:lnTo>
                <a:lnTo>
                  <a:pt x="234103" y="250984"/>
                </a:lnTo>
                <a:cubicBezTo>
                  <a:pt x="238813" y="245685"/>
                  <a:pt x="240189" y="238006"/>
                  <a:pt x="238125" y="231279"/>
                </a:cubicBezTo>
                <a:lnTo>
                  <a:pt x="165153" y="149840"/>
                </a:lnTo>
                <a:lnTo>
                  <a:pt x="157268" y="158710"/>
                </a:lnTo>
                <a:cubicBezTo>
                  <a:pt x="131180" y="188059"/>
                  <a:pt x="88953" y="188059"/>
                  <a:pt x="62865" y="158710"/>
                </a:cubicBezTo>
                <a:cubicBezTo>
                  <a:pt x="50694" y="145018"/>
                  <a:pt x="50218" y="123051"/>
                  <a:pt x="61701" y="108704"/>
                </a:cubicBezTo>
                <a:close/>
              </a:path>
            </a:pathLst>
          </a:custGeom>
          <a:solidFill>
            <a:srgbClr val="1B1B2F"/>
          </a:solidFill>
          <a:ln/>
        </p:spPr>
      </p:sp>
      <p:sp>
        <p:nvSpPr>
          <p:cNvPr id="33" name="Text 31"/>
          <p:cNvSpPr/>
          <p:nvPr/>
        </p:nvSpPr>
        <p:spPr>
          <a:xfrm>
            <a:off x="8826500" y="5905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SEAMLESS TAKEOVER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26500" y="62230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Broker typing in any thread silently pauses AI. Resumes after configurable silence with context summary.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382000" y="692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10331" y="0"/>
                  <a:pt x="76200" y="25598"/>
                  <a:pt x="76200" y="57150"/>
                </a:cubicBezTo>
                <a:lnTo>
                  <a:pt x="76200" y="133350"/>
                </a:lnTo>
                <a:cubicBezTo>
                  <a:pt x="76200" y="164902"/>
                  <a:pt x="110331" y="190500"/>
                  <a:pt x="152400" y="190500"/>
                </a:cubicBezTo>
                <a:cubicBezTo>
                  <a:pt x="194469" y="190500"/>
                  <a:pt x="228600" y="164902"/>
                  <a:pt x="228600" y="133350"/>
                </a:cubicBezTo>
                <a:lnTo>
                  <a:pt x="228600" y="57150"/>
                </a:lnTo>
                <a:cubicBezTo>
                  <a:pt x="228600" y="25598"/>
                  <a:pt x="194469" y="0"/>
                  <a:pt x="152400" y="0"/>
                </a:cubicBezTo>
                <a:close/>
                <a:moveTo>
                  <a:pt x="38100" y="109537"/>
                </a:moveTo>
                <a:cubicBezTo>
                  <a:pt x="38100" y="101620"/>
                  <a:pt x="29607" y="95250"/>
                  <a:pt x="19050" y="95250"/>
                </a:cubicBezTo>
                <a:cubicBezTo>
                  <a:pt x="8493" y="95250"/>
                  <a:pt x="0" y="101620"/>
                  <a:pt x="0" y="109537"/>
                </a:cubicBezTo>
                <a:lnTo>
                  <a:pt x="0" y="133350"/>
                </a:lnTo>
                <a:cubicBezTo>
                  <a:pt x="0" y="191631"/>
                  <a:pt x="58182" y="239732"/>
                  <a:pt x="133350" y="246757"/>
                </a:cubicBezTo>
                <a:lnTo>
                  <a:pt x="133350" y="276225"/>
                </a:lnTo>
                <a:lnTo>
                  <a:pt x="95250" y="276225"/>
                </a:lnTo>
                <a:cubicBezTo>
                  <a:pt x="84693" y="276225"/>
                  <a:pt x="76200" y="282595"/>
                  <a:pt x="76200" y="290513"/>
                </a:cubicBezTo>
                <a:cubicBezTo>
                  <a:pt x="76200" y="298430"/>
                  <a:pt x="84693" y="304800"/>
                  <a:pt x="95250" y="304800"/>
                </a:cubicBezTo>
                <a:lnTo>
                  <a:pt x="209550" y="304800"/>
                </a:lnTo>
                <a:cubicBezTo>
                  <a:pt x="220107" y="304800"/>
                  <a:pt x="228600" y="298430"/>
                  <a:pt x="228600" y="290513"/>
                </a:cubicBezTo>
                <a:cubicBezTo>
                  <a:pt x="228600" y="282595"/>
                  <a:pt x="220107" y="276225"/>
                  <a:pt x="209550" y="276225"/>
                </a:cubicBezTo>
                <a:lnTo>
                  <a:pt x="171450" y="276225"/>
                </a:lnTo>
                <a:lnTo>
                  <a:pt x="171450" y="246757"/>
                </a:lnTo>
                <a:cubicBezTo>
                  <a:pt x="246618" y="239732"/>
                  <a:pt x="304800" y="191631"/>
                  <a:pt x="304800" y="133350"/>
                </a:cubicBezTo>
                <a:lnTo>
                  <a:pt x="304800" y="109537"/>
                </a:lnTo>
                <a:cubicBezTo>
                  <a:pt x="304800" y="101620"/>
                  <a:pt x="296307" y="95250"/>
                  <a:pt x="285750" y="95250"/>
                </a:cubicBezTo>
                <a:cubicBezTo>
                  <a:pt x="275193" y="95250"/>
                  <a:pt x="266700" y="101620"/>
                  <a:pt x="266700" y="109537"/>
                </a:cubicBezTo>
                <a:lnTo>
                  <a:pt x="266700" y="133350"/>
                </a:lnTo>
                <a:cubicBezTo>
                  <a:pt x="266700" y="180677"/>
                  <a:pt x="215503" y="219075"/>
                  <a:pt x="152400" y="219075"/>
                </a:cubicBezTo>
                <a:cubicBezTo>
                  <a:pt x="89297" y="219075"/>
                  <a:pt x="38100" y="180677"/>
                  <a:pt x="38100" y="133350"/>
                </a:cubicBezTo>
                <a:lnTo>
                  <a:pt x="38100" y="109537"/>
                </a:lnTo>
                <a:close/>
              </a:path>
            </a:pathLst>
          </a:custGeom>
          <a:solidFill>
            <a:srgbClr val="1B1B2F"/>
          </a:solidFill>
          <a:ln/>
        </p:spPr>
      </p:sp>
      <p:sp>
        <p:nvSpPr>
          <p:cNvPr id="36" name="Text 34"/>
          <p:cNvSpPr/>
          <p:nvPr/>
        </p:nvSpPr>
        <p:spPr>
          <a:xfrm>
            <a:off x="8826500" y="6921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VOICE-NATIVE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26500" y="7239000"/>
            <a:ext cx="660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Buyer voice notes transcribed; broker voice-note instructions become executed commands.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&amp; SAFETY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an Rs.1-crore purchase, one wrong sentence can cost a deal. GoSumo's safety model is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architectural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enforced in code paths, not prompt suggestions.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032000"/>
            <a:ext cx="698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CONFIDENCE-SCORED AUTONOMY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2514600"/>
            <a:ext cx="6985000" cy="38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2000" y="2514600"/>
            <a:ext cx="1752600" cy="381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9" name="Shape 7"/>
          <p:cNvSpPr/>
          <p:nvPr/>
        </p:nvSpPr>
        <p:spPr>
          <a:xfrm>
            <a:off x="2514600" y="2514600"/>
            <a:ext cx="1752600" cy="381000"/>
          </a:xfrm>
          <a:prstGeom prst="rect">
            <a:avLst/>
          </a:prstGeom>
          <a:solidFill>
            <a:srgbClr val="D4634E">
              <a:alpha val="6902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4267200" y="2514600"/>
            <a:ext cx="1752600" cy="381000"/>
          </a:xfrm>
          <a:prstGeom prst="rect">
            <a:avLst/>
          </a:prstGeom>
          <a:solidFill>
            <a:srgbClr val="D4634E">
              <a:alpha val="43922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019800" y="2514600"/>
            <a:ext cx="1727200" cy="381000"/>
          </a:xfrm>
          <a:prstGeom prst="rect">
            <a:avLst/>
          </a:prstGeom>
          <a:solidFill>
            <a:srgbClr val="D4634E">
              <a:alpha val="25098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2984500"/>
            <a:ext cx="1752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&gt;=90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Auto-execute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14600" y="2984500"/>
            <a:ext cx="1752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70-89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Draft for approval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67200" y="2984500"/>
            <a:ext cx="1752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50-69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Propose actions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9800" y="2984500"/>
            <a:ext cx="1727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&lt;50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Escalate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2000" y="3746500"/>
            <a:ext cx="698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Autonomy is a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per-broker dial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widens automatically as approval-without-edit rates prove reliability.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82000" y="2032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 RULES (OVERRIDE ANY SCORE)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514600"/>
          <a:ext cx="7112000" cy="3683000"/>
        </p:xfrm>
        <a:graphic>
          <a:graphicData uri="http://schemas.openxmlformats.org/drawingml/2006/table">
            <a:tbl>
              <a:tblPr/>
              <a:tblGrid>
                <a:gridCol w="3556000"/>
                <a:gridCol w="3556000"/>
              </a:tblGrid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 AI never...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Instead it...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States a price absent from verified sheet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Force-drops confidence; offers to confirm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Negotiates 'best/final price'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Escalates to broker; holds position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Confirms unverified unit availability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'Let me confirm and revert within the hour'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Makes RERA/approval claims beyond sheet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Quotes registered fact sheet with RERA #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Gives loan/tax/investment advice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Shares factual data; offers human callback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Messages opted-out number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Blocked at ingestion layer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Discloses buyer interest to another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Alerts broker; human decision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762000" y="6477000"/>
            <a:ext cx="14732000" cy="10160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2000" y="6477000"/>
            <a:ext cx="50800" cy="1016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1" name="Text 18"/>
          <p:cNvSpPr/>
          <p:nvPr/>
        </p:nvSpPr>
        <p:spPr>
          <a:xfrm>
            <a:off x="1066800" y="6578600"/>
            <a:ext cx="141732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autonomous action is logged to an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append-only audit trail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a per-account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 switch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pauses all automation instantly; contradiction detection flags requirement changes. </a:t>
            </a:r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pitch: our AI is the only salesperson you'll ever employ that cannot exaggerate.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23" name="Text 20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2_Dark_abstract_background_network.png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NETWORK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tool to market infrastructure — network effects and the flywheel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FIVE NETWORK LAYERS — WHY 1+1 &gt; 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1473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is architected so </a:t>
            </a:r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account added makes every existing account more valuable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006600"/>
            <a:ext cx="14732000" cy="11176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0955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714500" y="2120900"/>
            <a:ext cx="444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SINGLE-PLAYER VALUE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714500" y="24765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Lead Manager delivers full value to one isolated customer. No chicken-and-egg: a broker with zero other GoSumo users still gets speed, qualification, visits, follow-up, memory.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62000" y="3251200"/>
            <a:ext cx="14732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2000" y="3251200"/>
            <a:ext cx="50800" cy="11176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2" name="Text 10"/>
          <p:cNvSpPr/>
          <p:nvPr/>
        </p:nvSpPr>
        <p:spPr>
          <a:xfrm>
            <a:off x="952500" y="33401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14500" y="336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MICRO-MARKET INTELLIGENCE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858000" y="3390900"/>
            <a:ext cx="228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NETWORK EFFECT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14500" y="37211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Anonymized, aggregated patterns — which cadence converts, which objections kill deals, source quality scores per locality. The 10th broker joins a measurably smarter product than the 1st.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2000" y="4495800"/>
            <a:ext cx="14732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2000" y="4495800"/>
            <a:ext cx="50800" cy="11176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8" name="Text 16"/>
          <p:cNvSpPr/>
          <p:nvPr/>
        </p:nvSpPr>
        <p:spPr>
          <a:xfrm>
            <a:off x="952500" y="45847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14500" y="46101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CO-BROKING EXCHANGE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58000" y="46355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LIQUIDITY NETWORK EFFECT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4500" y="49657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Qualified lead doesn't match Broker A's inventory? Routed — one tap, consented, split pre-agreed — to Broker B. More members -&gt; more inventory coverage -&gt; more matched closings -&gt; more members.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2000" y="5740400"/>
            <a:ext cx="14732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2000" y="5740400"/>
            <a:ext cx="50800" cy="11176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4" name="Text 22"/>
          <p:cNvSpPr/>
          <p:nvPr/>
        </p:nvSpPr>
        <p:spPr>
          <a:xfrm>
            <a:off x="952500" y="58293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714500" y="58547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INVENTORY DISTRIBUTION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58000" y="58801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TWO-SIDED NETWORK EFFECT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714500" y="6210300"/>
            <a:ext cx="134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Developers publish verified inventory once; every CP instantly sells from live, accurate stock. More CPs -&gt; more distribution per project -&gt; developers list more inventory.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6985000"/>
            <a:ext cx="14732000" cy="111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" y="6985000"/>
            <a:ext cx="50800" cy="11176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0" name="Text 28"/>
          <p:cNvSpPr/>
          <p:nvPr/>
        </p:nvSpPr>
        <p:spPr>
          <a:xfrm>
            <a:off x="952500" y="7073900"/>
            <a:ext cx="6985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714500" y="70993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BUYER TRUST MARK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7124700"/>
            <a:ext cx="279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1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DEMAND-SIDE EFFECT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714500" y="74549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Consistent buyer experience builds consumer preference for GoSumo-badged brokers, pulling remaining brokers in. GoSumo does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sell buyer attention or compete with brokers for the buyer relationship.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5" name="Text 33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NETWORK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CO-BROKING EXCHANGE — THE MOAT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 — 5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2006600"/>
            <a:ext cx="406400" cy="4064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2006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33500" y="1968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Broker A's AI qualifies a buyer whose BLTC matches nothing in A's inventory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2000" y="2540000"/>
            <a:ext cx="406400" cy="4064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2540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33500" y="25019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surfaces matching verified inventory from Broker B or Developer 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62000" y="3073400"/>
            <a:ext cx="406400" cy="4064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3073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33500" y="3073400"/>
            <a:ext cx="622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syndicates the lead in one tap under pre-agreed split (default 50:50)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62000" y="3606800"/>
            <a:ext cx="406400" cy="4064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36068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33500" y="35687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Platform tracks deal to closure, collects </a:t>
            </a:r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5-8% success fee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commission pool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62000" y="4140200"/>
            <a:ext cx="406400" cy="406400"/>
          </a:xfrm>
          <a:prstGeom prst="ellipse">
            <a:avLst/>
          </a:prstGeom>
          <a:solidFill>
            <a:srgbClr val="D4634E"/>
          </a:solidFill>
          <a:ln/>
        </p:spPr>
      </p:sp>
      <p:sp>
        <p:nvSpPr>
          <p:cNvPr id="19" name="Text 17"/>
          <p:cNvSpPr/>
          <p:nvPr/>
        </p:nvSpPr>
        <p:spPr>
          <a:xfrm>
            <a:off x="762000" y="41402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33500" y="4140200"/>
            <a:ext cx="6223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sides rate interaction; reliability scores gate future matching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82000" y="1498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TRUST RAILS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382000" y="2006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3" name="Text 21"/>
          <p:cNvSpPr/>
          <p:nvPr/>
        </p:nvSpPr>
        <p:spPr>
          <a:xfrm>
            <a:off x="8826500" y="19685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Verified inventory only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RERA-numbered, fact-sheet-grounded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8382000" y="2476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38100"/>
                </a:moveTo>
                <a:cubicBezTo>
                  <a:pt x="0" y="17085"/>
                  <a:pt x="22781" y="0"/>
                  <a:pt x="50800" y="0"/>
                </a:cubicBezTo>
                <a:lnTo>
                  <a:pt x="169466" y="0"/>
                </a:lnTo>
                <a:cubicBezTo>
                  <a:pt x="182959" y="0"/>
                  <a:pt x="195898" y="3989"/>
                  <a:pt x="205423" y="11132"/>
                </a:cubicBezTo>
                <a:lnTo>
                  <a:pt x="289957" y="74593"/>
                </a:lnTo>
                <a:cubicBezTo>
                  <a:pt x="299482" y="81736"/>
                  <a:pt x="304800" y="91440"/>
                  <a:pt x="304800" y="10156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65100" y="34826"/>
                </a:moveTo>
                <a:lnTo>
                  <a:pt x="165100" y="90488"/>
                </a:lnTo>
                <a:cubicBezTo>
                  <a:pt x="165100" y="98405"/>
                  <a:pt x="173593" y="104775"/>
                  <a:pt x="184150" y="104775"/>
                </a:cubicBezTo>
                <a:lnTo>
                  <a:pt x="258366" y="104775"/>
                </a:lnTo>
                <a:lnTo>
                  <a:pt x="165100" y="34826"/>
                </a:lnTo>
                <a:close/>
                <a:moveTo>
                  <a:pt x="69850" y="38100"/>
                </a:moveTo>
                <a:cubicBezTo>
                  <a:pt x="59293" y="38100"/>
                  <a:pt x="50800" y="44470"/>
                  <a:pt x="50800" y="52388"/>
                </a:cubicBezTo>
                <a:cubicBezTo>
                  <a:pt x="50800" y="60305"/>
                  <a:pt x="59293" y="66675"/>
                  <a:pt x="69850" y="66675"/>
                </a:cubicBezTo>
                <a:lnTo>
                  <a:pt x="107950" y="66675"/>
                </a:lnTo>
                <a:cubicBezTo>
                  <a:pt x="118507" y="66675"/>
                  <a:pt x="127000" y="60305"/>
                  <a:pt x="127000" y="52388"/>
                </a:cubicBezTo>
                <a:cubicBezTo>
                  <a:pt x="127000" y="44470"/>
                  <a:pt x="118507" y="38100"/>
                  <a:pt x="107950" y="38100"/>
                </a:cubicBezTo>
                <a:lnTo>
                  <a:pt x="69850" y="38100"/>
                </a:lnTo>
                <a:close/>
                <a:moveTo>
                  <a:pt x="69850" y="95250"/>
                </a:moveTo>
                <a:cubicBezTo>
                  <a:pt x="59293" y="95250"/>
                  <a:pt x="50800" y="101620"/>
                  <a:pt x="50800" y="109537"/>
                </a:cubicBezTo>
                <a:cubicBezTo>
                  <a:pt x="50800" y="117455"/>
                  <a:pt x="59293" y="123825"/>
                  <a:pt x="69850" y="123825"/>
                </a:cubicBezTo>
                <a:lnTo>
                  <a:pt x="107950" y="123825"/>
                </a:lnTo>
                <a:cubicBezTo>
                  <a:pt x="118507" y="123825"/>
                  <a:pt x="127000" y="117455"/>
                  <a:pt x="127000" y="109537"/>
                </a:cubicBezTo>
                <a:cubicBezTo>
                  <a:pt x="127000" y="101620"/>
                  <a:pt x="118507" y="95250"/>
                  <a:pt x="107950" y="95250"/>
                </a:cubicBezTo>
                <a:lnTo>
                  <a:pt x="69850" y="95250"/>
                </a:lnTo>
                <a:close/>
                <a:moveTo>
                  <a:pt x="125651" y="190500"/>
                </a:moveTo>
                <a:cubicBezTo>
                  <a:pt x="116681" y="190500"/>
                  <a:pt x="108268" y="193536"/>
                  <a:pt x="102711" y="198775"/>
                </a:cubicBezTo>
                <a:lnTo>
                  <a:pt x="55007" y="243483"/>
                </a:lnTo>
                <a:cubicBezTo>
                  <a:pt x="48419" y="249615"/>
                  <a:pt x="49768" y="258663"/>
                  <a:pt x="57944" y="263545"/>
                </a:cubicBezTo>
                <a:cubicBezTo>
                  <a:pt x="66119" y="268426"/>
                  <a:pt x="78184" y="267474"/>
                  <a:pt x="84693" y="261283"/>
                </a:cubicBezTo>
                <a:lnTo>
                  <a:pt x="122079" y="226278"/>
                </a:lnTo>
                <a:lnTo>
                  <a:pt x="134144" y="256461"/>
                </a:lnTo>
                <a:cubicBezTo>
                  <a:pt x="136525" y="262533"/>
                  <a:pt x="143986" y="266640"/>
                  <a:pt x="152400" y="266640"/>
                </a:cubicBezTo>
                <a:lnTo>
                  <a:pt x="234950" y="266640"/>
                </a:lnTo>
                <a:cubicBezTo>
                  <a:pt x="245507" y="266640"/>
                  <a:pt x="254000" y="260271"/>
                  <a:pt x="254000" y="252353"/>
                </a:cubicBezTo>
                <a:cubicBezTo>
                  <a:pt x="254000" y="244435"/>
                  <a:pt x="245507" y="238065"/>
                  <a:pt x="234950" y="238065"/>
                </a:cubicBezTo>
                <a:lnTo>
                  <a:pt x="166608" y="238065"/>
                </a:lnTo>
                <a:lnTo>
                  <a:pt x="153829" y="206157"/>
                </a:lnTo>
                <a:cubicBezTo>
                  <a:pt x="150098" y="196810"/>
                  <a:pt x="138668" y="190440"/>
                  <a:pt x="125651" y="190440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5" name="Text 23"/>
          <p:cNvSpPr/>
          <p:nvPr/>
        </p:nvSpPr>
        <p:spPr>
          <a:xfrm>
            <a:off x="8826500" y="24384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Immutable attribution ledger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sourced, fulfilled, terms settled at write time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82000" y="2946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3777" y="-11251"/>
                </a:moveTo>
                <a:cubicBezTo>
                  <a:pt x="161607" y="-16014"/>
                  <a:pt x="157215" y="-19050"/>
                  <a:pt x="152453" y="-19050"/>
                </a:cubicBezTo>
                <a:cubicBezTo>
                  <a:pt x="147690" y="-19050"/>
                  <a:pt x="143298" y="-16014"/>
                  <a:pt x="141129" y="-11251"/>
                </a:cubicBezTo>
                <a:lnTo>
                  <a:pt x="102182" y="74593"/>
                </a:lnTo>
                <a:lnTo>
                  <a:pt x="17568" y="89714"/>
                </a:lnTo>
                <a:cubicBezTo>
                  <a:pt x="12859" y="90547"/>
                  <a:pt x="8943" y="94298"/>
                  <a:pt x="7461" y="99417"/>
                </a:cubicBezTo>
                <a:cubicBezTo>
                  <a:pt x="5980" y="104537"/>
                  <a:pt x="7197" y="110133"/>
                  <a:pt x="10530" y="113943"/>
                </a:cubicBezTo>
                <a:lnTo>
                  <a:pt x="71067" y="182106"/>
                </a:lnTo>
                <a:lnTo>
                  <a:pt x="57732" y="277297"/>
                </a:lnTo>
                <a:cubicBezTo>
                  <a:pt x="56991" y="282595"/>
                  <a:pt x="58949" y="287953"/>
                  <a:pt x="62812" y="291108"/>
                </a:cubicBezTo>
                <a:cubicBezTo>
                  <a:pt x="66675" y="294263"/>
                  <a:pt x="71755" y="294739"/>
                  <a:pt x="76041" y="292298"/>
                </a:cubicBezTo>
                <a:lnTo>
                  <a:pt x="152453" y="248603"/>
                </a:lnTo>
                <a:lnTo>
                  <a:pt x="228812" y="292298"/>
                </a:lnTo>
                <a:cubicBezTo>
                  <a:pt x="233045" y="294739"/>
                  <a:pt x="238178" y="294263"/>
                  <a:pt x="242041" y="291108"/>
                </a:cubicBezTo>
                <a:cubicBezTo>
                  <a:pt x="245904" y="287953"/>
                  <a:pt x="247862" y="282654"/>
                  <a:pt x="247121" y="277297"/>
                </a:cubicBezTo>
                <a:lnTo>
                  <a:pt x="233733" y="182106"/>
                </a:lnTo>
                <a:lnTo>
                  <a:pt x="294270" y="113943"/>
                </a:lnTo>
                <a:cubicBezTo>
                  <a:pt x="297656" y="110133"/>
                  <a:pt x="298820" y="104537"/>
                  <a:pt x="297339" y="99417"/>
                </a:cubicBezTo>
                <a:cubicBezTo>
                  <a:pt x="295857" y="94298"/>
                  <a:pt x="291994" y="90547"/>
                  <a:pt x="287232" y="89714"/>
                </a:cubicBezTo>
                <a:lnTo>
                  <a:pt x="202671" y="74593"/>
                </a:lnTo>
                <a:lnTo>
                  <a:pt x="163777" y="-11251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7" name="Text 25"/>
          <p:cNvSpPr/>
          <p:nvPr/>
        </p:nvSpPr>
        <p:spPr>
          <a:xfrm>
            <a:off x="8826500" y="29083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 scoring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response speed, show-up integrity, split honoring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382000" y="34163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42293" y="50721"/>
                </a:moveTo>
                <a:lnTo>
                  <a:pt x="80592" y="127873"/>
                </a:lnTo>
                <a:cubicBezTo>
                  <a:pt x="78158" y="130909"/>
                  <a:pt x="78264" y="135612"/>
                  <a:pt x="80857" y="138529"/>
                </a:cubicBezTo>
                <a:cubicBezTo>
                  <a:pt x="96996" y="156686"/>
                  <a:pt x="123190" y="156686"/>
                  <a:pt x="139330" y="138529"/>
                </a:cubicBezTo>
                <a:lnTo>
                  <a:pt x="156157" y="119598"/>
                </a:lnTo>
                <a:cubicBezTo>
                  <a:pt x="158380" y="117098"/>
                  <a:pt x="161184" y="115729"/>
                  <a:pt x="164042" y="115491"/>
                </a:cubicBezTo>
                <a:cubicBezTo>
                  <a:pt x="167640" y="115133"/>
                  <a:pt x="171344" y="116503"/>
                  <a:pt x="174096" y="119598"/>
                </a:cubicBezTo>
                <a:lnTo>
                  <a:pt x="267547" y="223838"/>
                </a:lnTo>
                <a:lnTo>
                  <a:pt x="304800" y="190500"/>
                </a:lnTo>
                <a:lnTo>
                  <a:pt x="304800" y="19050"/>
                </a:lnTo>
                <a:lnTo>
                  <a:pt x="245533" y="57150"/>
                </a:lnTo>
                <a:lnTo>
                  <a:pt x="232939" y="47685"/>
                </a:lnTo>
                <a:cubicBezTo>
                  <a:pt x="224578" y="41434"/>
                  <a:pt x="214789" y="38100"/>
                  <a:pt x="204735" y="38100"/>
                </a:cubicBezTo>
                <a:lnTo>
                  <a:pt x="167481" y="38100"/>
                </a:lnTo>
                <a:cubicBezTo>
                  <a:pt x="166899" y="38100"/>
                  <a:pt x="166264" y="38100"/>
                  <a:pt x="165682" y="38160"/>
                </a:cubicBezTo>
                <a:cubicBezTo>
                  <a:pt x="156739" y="38695"/>
                  <a:pt x="148325" y="43220"/>
                  <a:pt x="142293" y="50721"/>
                </a:cubicBezTo>
                <a:close/>
                <a:moveTo>
                  <a:pt x="61701" y="108764"/>
                </a:moveTo>
                <a:lnTo>
                  <a:pt x="118216" y="38100"/>
                </a:lnTo>
                <a:lnTo>
                  <a:pt x="97261" y="38100"/>
                </a:lnTo>
                <a:cubicBezTo>
                  <a:pt x="83767" y="38100"/>
                  <a:pt x="70855" y="44113"/>
                  <a:pt x="61330" y="54828"/>
                </a:cubicBezTo>
                <a:lnTo>
                  <a:pt x="59267" y="57150"/>
                </a:lnTo>
                <a:lnTo>
                  <a:pt x="0" y="19050"/>
                </a:lnTo>
                <a:lnTo>
                  <a:pt x="0" y="190500"/>
                </a:lnTo>
                <a:lnTo>
                  <a:pt x="82762" y="268069"/>
                </a:lnTo>
                <a:cubicBezTo>
                  <a:pt x="94932" y="279499"/>
                  <a:pt x="110278" y="285750"/>
                  <a:pt x="126100" y="285750"/>
                </a:cubicBezTo>
                <a:lnTo>
                  <a:pt x="134408" y="285750"/>
                </a:lnTo>
                <a:lnTo>
                  <a:pt x="130704" y="281583"/>
                </a:lnTo>
                <a:cubicBezTo>
                  <a:pt x="125730" y="275987"/>
                  <a:pt x="125730" y="266938"/>
                  <a:pt x="130704" y="261402"/>
                </a:cubicBezTo>
                <a:cubicBezTo>
                  <a:pt x="135678" y="255865"/>
                  <a:pt x="143722" y="255806"/>
                  <a:pt x="148643" y="261402"/>
                </a:cubicBezTo>
                <a:lnTo>
                  <a:pt x="170339" y="285810"/>
                </a:lnTo>
                <a:lnTo>
                  <a:pt x="175101" y="285810"/>
                </a:lnTo>
                <a:cubicBezTo>
                  <a:pt x="185208" y="285810"/>
                  <a:pt x="195104" y="283250"/>
                  <a:pt x="204100" y="278487"/>
                </a:cubicBezTo>
                <a:lnTo>
                  <a:pt x="189971" y="262533"/>
                </a:lnTo>
                <a:cubicBezTo>
                  <a:pt x="184997" y="256937"/>
                  <a:pt x="184997" y="247888"/>
                  <a:pt x="189971" y="242352"/>
                </a:cubicBezTo>
                <a:cubicBezTo>
                  <a:pt x="194945" y="236815"/>
                  <a:pt x="202988" y="236756"/>
                  <a:pt x="207910" y="242352"/>
                </a:cubicBezTo>
                <a:lnTo>
                  <a:pt x="224843" y="261402"/>
                </a:lnTo>
                <a:lnTo>
                  <a:pt x="234103" y="250984"/>
                </a:lnTo>
                <a:cubicBezTo>
                  <a:pt x="238813" y="245685"/>
                  <a:pt x="240189" y="238006"/>
                  <a:pt x="238125" y="231279"/>
                </a:cubicBezTo>
                <a:lnTo>
                  <a:pt x="165153" y="149840"/>
                </a:lnTo>
                <a:lnTo>
                  <a:pt x="157268" y="158710"/>
                </a:lnTo>
                <a:cubicBezTo>
                  <a:pt x="131180" y="188059"/>
                  <a:pt x="88953" y="188059"/>
                  <a:pt x="62865" y="158710"/>
                </a:cubicBezTo>
                <a:cubicBezTo>
                  <a:pt x="50694" y="145018"/>
                  <a:pt x="50218" y="123051"/>
                  <a:pt x="61701" y="108704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9" name="Text 27"/>
          <p:cNvSpPr/>
          <p:nvPr/>
        </p:nvSpPr>
        <p:spPr>
          <a:xfrm>
            <a:off x="8826500" y="33782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Buyer consent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captured in-thread before any introduction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8382000" y="3886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9747" y="91321"/>
                </a:moveTo>
                <a:lnTo>
                  <a:pt x="79851" y="80189"/>
                </a:lnTo>
                <a:cubicBezTo>
                  <a:pt x="73237" y="72747"/>
                  <a:pt x="73237" y="60662"/>
                  <a:pt x="79851" y="53221"/>
                </a:cubicBezTo>
                <a:lnTo>
                  <a:pt x="140547" y="-15121"/>
                </a:lnTo>
                <a:cubicBezTo>
                  <a:pt x="147161" y="-22562"/>
                  <a:pt x="157903" y="-22562"/>
                  <a:pt x="164518" y="-15121"/>
                </a:cubicBezTo>
                <a:lnTo>
                  <a:pt x="174413" y="-3929"/>
                </a:lnTo>
                <a:cubicBezTo>
                  <a:pt x="181028" y="3512"/>
                  <a:pt x="181028" y="15597"/>
                  <a:pt x="174413" y="23039"/>
                </a:cubicBezTo>
                <a:lnTo>
                  <a:pt x="113718" y="91321"/>
                </a:lnTo>
                <a:cubicBezTo>
                  <a:pt x="107103" y="98762"/>
                  <a:pt x="96361" y="98762"/>
                  <a:pt x="89747" y="91321"/>
                </a:cubicBezTo>
                <a:close/>
                <a:moveTo>
                  <a:pt x="146050" y="126028"/>
                </a:moveTo>
                <a:lnTo>
                  <a:pt x="129434" y="107335"/>
                </a:lnTo>
                <a:lnTo>
                  <a:pt x="188701" y="40660"/>
                </a:lnTo>
                <a:lnTo>
                  <a:pt x="251883" y="111740"/>
                </a:lnTo>
                <a:lnTo>
                  <a:pt x="192617" y="178415"/>
                </a:lnTo>
                <a:lnTo>
                  <a:pt x="176001" y="159722"/>
                </a:lnTo>
                <a:lnTo>
                  <a:pt x="53234" y="297835"/>
                </a:lnTo>
                <a:cubicBezTo>
                  <a:pt x="44979" y="307122"/>
                  <a:pt x="31591" y="307122"/>
                  <a:pt x="23283" y="297835"/>
                </a:cubicBezTo>
                <a:cubicBezTo>
                  <a:pt x="14975" y="288548"/>
                  <a:pt x="15028" y="273487"/>
                  <a:pt x="23283" y="264140"/>
                </a:cubicBezTo>
                <a:lnTo>
                  <a:pt x="146050" y="126028"/>
                </a:lnTo>
                <a:close/>
                <a:moveTo>
                  <a:pt x="206851" y="223004"/>
                </a:moveTo>
                <a:cubicBezTo>
                  <a:pt x="200237" y="215563"/>
                  <a:pt x="200237" y="203478"/>
                  <a:pt x="206851" y="196036"/>
                </a:cubicBezTo>
                <a:lnTo>
                  <a:pt x="267547" y="127754"/>
                </a:lnTo>
                <a:cubicBezTo>
                  <a:pt x="274161" y="120313"/>
                  <a:pt x="284903" y="120313"/>
                  <a:pt x="291518" y="127754"/>
                </a:cubicBezTo>
                <a:lnTo>
                  <a:pt x="301413" y="138886"/>
                </a:lnTo>
                <a:cubicBezTo>
                  <a:pt x="308028" y="146328"/>
                  <a:pt x="308028" y="158413"/>
                  <a:pt x="301413" y="165854"/>
                </a:cubicBezTo>
                <a:lnTo>
                  <a:pt x="240718" y="234196"/>
                </a:lnTo>
                <a:cubicBezTo>
                  <a:pt x="234103" y="241637"/>
                  <a:pt x="223361" y="241637"/>
                  <a:pt x="216747" y="234196"/>
                </a:cubicBezTo>
                <a:lnTo>
                  <a:pt x="206851" y="223064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31" name="Text 29"/>
          <p:cNvSpPr/>
          <p:nvPr/>
        </p:nvSpPr>
        <p:spPr>
          <a:xfrm>
            <a:off x="8826500" y="3848100"/>
            <a:ext cx="660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Founder-adjudicated disputes</a:t>
            </a:r>
            <a:pPr algn="l">
              <a:lnSpc>
                <a:spcPct val="12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published norms, target &lt;2% dispute rate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2000" y="4889500"/>
            <a:ext cx="14732000" cy="1778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3" name="Text 31"/>
          <p:cNvSpPr/>
          <p:nvPr/>
        </p:nvSpPr>
        <p:spPr>
          <a:xfrm>
            <a:off x="1066800" y="5016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0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IS THE MOAT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066800" y="5435600"/>
            <a:ext cx="1417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additional member adds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inventory and demand simultaneously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more coverage -&gt; more matched closings per member -&gt; stronger reason for the next member to join. Liquidity network effects are the hardest advantage to copy because a rival must replicate not a feature but a </a:t>
            </a:r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marketplace with trust rails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And exchange revenue scales with members' income, not their software budget.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62000" y="685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FLYWHEEL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62000" y="7302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AI rescues leaks -&gt; each broker closes more deals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83000" y="7302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More brokers -&gt; denser data -&gt; smarter playbooks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604000" y="7302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Higher conversion -&gt; more co-broked closings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9525000" y="7302500"/>
            <a:ext cx="279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Exchange liquidity -&gt; developer inventory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2446000" y="7302500"/>
            <a:ext cx="304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5.</a:t>
            </a:r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Trust mark -&gt; lower CAC -&gt; back to step 2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42" name="Text 40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4_1_400_India_Business_District_Stock.png">    </p:cNvPr>
          <p:cNvPicPr>
            <a:picLocks noChangeAspect="1"/>
          </p:cNvPicPr>
          <p:nvPr/>
        </p:nvPicPr>
        <p:blipFill>
          <a:blip r:embed="rId1"/>
          <a:srcRect l="0" r="0" t="12500" b="1250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Competition, pricing, and the path to Rs.10 Cr ARR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LANDSCAPE — WHERE WE WIN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/>
                <a:gridCol w="4419600"/>
                <a:gridCol w="7071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Player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 They Are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Structural Limit We Exploit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Meta Business Agent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Free generic AI for SMB chats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Inbound-only, generic, no inventory grounding, no exchange — structurally single-player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Portals</a:t>
                      </a:r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(99acres, etc.)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Demand aggregators + broker CRM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Conflicted neutrality: never optimizes other lead sources; brokers know leads are sold 5-10x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NoBroker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C2C platform removing brokers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Not a supplier to brokers — sharpens their need to professionalize (our demand)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Square Yards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Full-stack brokerage (Rs.2,000 Cr+)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Competes WITH independents; we arm them. Their success proves the transaction prize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Developer CRMs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Enterprise pre-sales workflow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Human-powered, heavy; we replace 70% of the telecalling floor at 1/4 the cost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Agent tools</a:t>
                      </a:r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(Privyr, etc.)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Mobile lead capture + reminders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They remind humans to work; we do the work. Natural upgrade path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WhatsApp suites</a:t>
                      </a:r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(Wati, etc.)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Broadcast/flow tooling on WA API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Marketing plumbing without sales intelligence; candidate vendors, not rivals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US analogs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inside-sales for realtors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Category proof; not WhatsApp-native, not India, no exchange layer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 real incumbent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The telecaller (Rs.15-18K/mo)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We are cheaper, work 24/7, never resign, and remember everything</a:t>
                      </a:r>
                      <a:endParaRPr lang="en-US" sz="13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6921500"/>
            <a:ext cx="14732000" cy="15240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6921500"/>
            <a:ext cx="50800" cy="1397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8" name="Text 5"/>
          <p:cNvSpPr/>
          <p:nvPr/>
        </p:nvSpPr>
        <p:spPr>
          <a:xfrm>
            <a:off x="1066800" y="70104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POSITIONING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6800" y="7302500"/>
            <a:ext cx="141732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brokers and CP firms losing deals to slow response and forgotten follow-up,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the AI revenue engine that answers every lead in 30 seconds — </a:t>
            </a:r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and the only platform where a lead you can't serve becomes a closing you share.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Unlike free chatbots (inbound-only), portals (conflicted), and CRMs (organize work instead of doing it), GoSumo is source-neutral, broker-first, and paid on results.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11" name="Text 8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— SAAS + EXCHANGE SUCCESS FEES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1587500"/>
            <a:ext cx="4699000" cy="63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841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— SOLO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22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Rs.3,999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/mo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16000" y="2819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 WhatsApp number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300 leads/month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 broker seat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Annual prepay: -15%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78500" y="1587500"/>
            <a:ext cx="4699000" cy="2921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587500"/>
            <a:ext cx="4699000" cy="63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841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— TEAM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32500" y="222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Rs.9,999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/mo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032500" y="2819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 seats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1,500 leads/month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Routing &amp; analytics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Morning briefing + hot alerts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795000" y="1587500"/>
            <a:ext cx="46990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795000" y="1587500"/>
            <a:ext cx="4699000" cy="635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841500"/>
            <a:ext cx="4191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— DEVELOPER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049000" y="2222500"/>
            <a:ext cx="4191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Rs.24,999</a:t>
            </a:r>
            <a:pPr algn="l">
              <a:lnSpc>
                <a:spcPct val="120000"/>
              </a:lnSpc>
            </a:pPr>
            <a:r>
              <a:rPr lang="en-US" sz="1600" dirty="0">
                <a:solidFill>
                  <a:srgbClr val="6B5B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/mo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1049000" y="2819400"/>
            <a:ext cx="419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 project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Unlimited leads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CRM sync + IVR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Priority support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2000" y="482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ADDITIONAL REVENUE STREAMS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2000" y="53086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Onboarding: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Rs.4,999 one-time (fact-sheet ingestion, template approvals, calendar hookup)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2000" y="6197600"/>
            <a:ext cx="444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overage: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Rs.8 per lead beyond plan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778500" y="53086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success fee: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5-8% of commission pool on co-broked closings — charged only on success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78500" y="6197600"/>
            <a:ext cx="444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Value-added (Phase 3):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Loan-referral revenue share, premium corridor reports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0795000" y="4826000"/>
            <a:ext cx="4699000" cy="19685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795000" y="4826000"/>
            <a:ext cx="50800" cy="1968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7" name="Text 25"/>
          <p:cNvSpPr/>
          <p:nvPr/>
        </p:nvSpPr>
        <p:spPr>
          <a:xfrm>
            <a:off x="11049000" y="4953000"/>
            <a:ext cx="419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1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ROI ARITHMETIC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049000" y="530860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plan at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Rs.1.2L/year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One incremental closing returns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Rs.80K-4L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Rescuing even 2% of a 400-lead/month funnel makes the software a rounding error against commissions.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0" name="Text 28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 — THE NUMBERS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3492500" cy="2032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714500"/>
            <a:ext cx="2984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Rs.7-15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COST/LEAD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16000" y="28956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LLM Rs.4-8 + WhatsApp Rs.2-5 + Infra Rs.1-2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8500" y="1587500"/>
            <a:ext cx="34925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500" y="1714500"/>
            <a:ext cx="2984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75-85%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762500" y="25400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SAAS GROSS MARGIN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2500" y="28956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scale; median Tier-2 uses 300-600 of 1,500 quota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55000" y="1587500"/>
            <a:ext cx="34925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9000" y="1714500"/>
            <a:ext cx="2984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&lt;2 Mo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09000" y="25400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 PAYBACK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9000" y="28956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CAC Rs.6-15K; beachhead motion collapses CAC over time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001500" y="1587500"/>
            <a:ext cx="3492500" cy="203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5500" y="1714500"/>
            <a:ext cx="29845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&gt;6x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12255500" y="2540000"/>
            <a:ext cx="29845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LTV : CAC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255500" y="28956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3-year retention; switching cost = lead memory + scores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3937000"/>
            <a:ext cx="14732000" cy="10160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937000"/>
            <a:ext cx="50800" cy="1016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23" name="Text 21"/>
          <p:cNvSpPr/>
          <p:nvPr/>
        </p:nvSpPr>
        <p:spPr>
          <a:xfrm>
            <a:off x="1066800" y="40386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44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&gt;90%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3810000" y="40386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EXCHANGE GROSS MARGIN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10000" y="43942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 fee on transactions flowing through existing rails — near-zero incremental cost per co-broked deal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2000" y="5270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 FORMULA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62000" y="5778500"/>
            <a:ext cx="1473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6000" y="5905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Revenue per account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SaaS ARPU (Rs.8.5-10.5K) + Exchange success fees (growing from 0% to ~17%)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b="1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Gross profit per account</a:t>
            </a:r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Revenue x 75-85% (SaaS) / &gt;90% (Exchange) - Variable cost (Rs.7-15/lead x leads)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73025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 Revenue Retention lever: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Seat expansion + overage + exchange fees. Exchange attaches revenue to customer </a:t>
            </a:r>
            <a:pPr algn="l">
              <a:lnSpc>
                <a:spcPct val="150000"/>
              </a:lnSpc>
            </a:pPr>
            <a:r>
              <a:rPr lang="en-US" sz="1400" i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healthiest NRR mechanism available.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watch-items: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WhatsApp per-message rate-card revisions, Meta AI-provider fee policy (live in Brazil; not currently India). Mitigations: message-efficiency budgets, BSP pass-through, channel-portable architecture.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1" name="Text 29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 — CORRIDOR DENSITY FIRST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87500"/>
            <a:ext cx="7112000" cy="1778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89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6000" y="1968500"/>
            <a:ext cx="660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PAID CONCIERGE PILOTS — WEEKS 1-4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16000" y="2349500"/>
            <a:ext cx="660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Founder-operated service for 3-5 CP firms. Dedicated WhatsApp number, manual qualification playbooks.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Rs.3,000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C8C0B8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30 days. Paid pilots produce truth; free pilots produce polite lies.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0" y="1587500"/>
            <a:ext cx="7366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28000" y="1587500"/>
            <a:ext cx="50800" cy="1778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1" name="Text 9"/>
          <p:cNvSpPr/>
          <p:nvPr/>
        </p:nvSpPr>
        <p:spPr>
          <a:xfrm>
            <a:off x="8382000" y="1689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82000" y="1968500"/>
            <a:ext cx="685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ON SAME ACCOUNTS — WEEKS 5-12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0" y="2349500"/>
            <a:ext cx="685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8-week build replaces human-in-the-middle. Pilot firms migrate to software at standard pricing. Founder shadows every conversation for 5 days, then autonomy dial opens.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3619500"/>
            <a:ext cx="9652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3619500"/>
            <a:ext cx="50800" cy="2159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3721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6000" y="4000500"/>
            <a:ext cx="914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CORRIDOR DENSITY — MONTHS 4-9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16000" y="4381500"/>
            <a:ext cx="914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Referral engine: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 month free per converted referral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route: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Monthly lunch-and-learn at NAR-India chapter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Developer anchor: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Tier-3 developer pilot seeds CP network (30-60 firms)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ignition: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~15 corridor accounts, co-broking goes live invitation-only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668000" y="3619500"/>
            <a:ext cx="4826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68000" y="3619500"/>
            <a:ext cx="50800" cy="1778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0" y="3721100"/>
            <a:ext cx="152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22000" y="4000500"/>
            <a:ext cx="4318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EXPANSION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922000" y="4381500"/>
            <a:ext cx="431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Adjacent corridors -&gt; second metro (corridor captain hire) -&gt; Tier-2 cities. Vertical adjacencies deferred until Metro 2 is profitable.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5715000"/>
            <a:ext cx="14732000" cy="1397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58166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60-SECOND DEMO THAT SELLS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66800" y="6159500"/>
            <a:ext cx="1417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5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"Mystery-shop your own number."</a:t>
            </a:r>
            <a:pPr algn="l">
              <a:lnSpc>
                <a:spcPct val="160000"/>
              </a:lnSpc>
            </a:pPr>
            <a:r>
              <a:rPr lang="en-US" sz="15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(1) Open the prospect's live listing. (2) Message their number as a buyer — silence. (3) Message the GoSumo demo number — a 20-second contextual Hinglish reply. (4) </a:t>
            </a:r>
            <a:pPr algn="l">
              <a:lnSpc>
                <a:spcPct val="160000"/>
              </a:lnSpc>
            </a:pPr>
            <a:r>
              <a:rPr lang="en-US" sz="1500" i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"Between 11 pm and 8 am last month, how many leads messaged you? Those are the deals your competitor closed."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28" name="Text 26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STRATEGY &amp; ECONOMICS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3-YEAR FINANCIAL PLAN — ZERO TO RS.10.65 CR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4254500"/>
        </p:xfrm>
        <a:graphic>
          <a:graphicData uri="http://schemas.openxmlformats.org/drawingml/2006/table">
            <a:tbl>
              <a:tblPr/>
              <a:tblGrid>
                <a:gridCol w="4419600"/>
                <a:gridCol w="3388360"/>
                <a:gridCol w="3535680"/>
                <a:gridCol w="3388360"/>
              </a:tblGrid>
              <a:tr h="382905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Year 1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Year 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Year 3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Paying accounts (exit)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350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1,100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Blended ARPU (Rs./mo)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8,500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9,500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10,500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SaaS + onboarding revenue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Rs.0.29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Rs.2.10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Rs.8.90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Co-broked closings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Pilot only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~300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~2,500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Exchange revenue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—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Rs.0.18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Rs.1.75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Total revenue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Rs.0.29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Rs.2.28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Rs.10.65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Gross margin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~70%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~78%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~80%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Team (exit headcount)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Founder + 2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22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0768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Operating result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-Rs.0.35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-Rs.0.80 Cr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Breakeven +/-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0" descr=""/>
          <p:cNvGraphicFramePr/>
          <p:nvPr/>
        </p:nvGraphicFramePr>
        <p:xfrm>
          <a:off x="762000" y="6032500"/>
          <a:ext cx="7112000" cy="2413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3"/>
          <p:cNvSpPr/>
          <p:nvPr/>
        </p:nvSpPr>
        <p:spPr>
          <a:xfrm>
            <a:off x="8128000" y="6032500"/>
            <a:ext cx="736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382000" y="6159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ASSUMPTIONS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382000" y="6502400"/>
            <a:ext cx="6858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Monthly churn: 3.5% -&gt; 2.5% as network lock-in builds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55% of accounts on Team plan by Year 2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Exchange: 40% participation, 0.6 closings/account/qtr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Avg. commission pool per deal: Rs.1.0L, fee 6.5%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Revenue most elastic to </a:t>
            </a:r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corridor density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11" name="Text 7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7_159_Mumbai_Bangalore_Highway_Sto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889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BLUEPRINT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Architecture, AI engine, and delivery roadmap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 — READ, DECIDE, ACT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14732000" cy="15875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60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WhatsApp, Meta, portals, IVR, CSV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4765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9" name="Text 7"/>
          <p:cNvSpPr/>
          <p:nvPr/>
        </p:nvSpPr>
        <p:spPr>
          <a:xfrm>
            <a:off x="28575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Lead record, attribution, identity merge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180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46990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ENRICH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Profile, BLTC, RAG, calendar, inventory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95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3" name="Text 11"/>
          <p:cNvSpPr/>
          <p:nvPr/>
        </p:nvSpPr>
        <p:spPr>
          <a:xfrm>
            <a:off x="65405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CLASSIFY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Intent detection, confidence scoring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83820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 / draft / guided / escalate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8425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7" name="Text 15"/>
          <p:cNvSpPr/>
          <p:nvPr/>
        </p:nvSpPr>
        <p:spPr>
          <a:xfrm>
            <a:off x="10223500" y="1930400"/>
            <a:ext cx="1397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ACT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Reply, book, alert, syndicate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684000" y="2260600"/>
            <a:ext cx="317500" cy="0"/>
          </a:xfrm>
          <a:prstGeom prst="straightConnector1">
            <a:avLst/>
          </a:prstGeom>
          <a:noFill/>
          <a:ln w="25400">
            <a:solidFill>
              <a:srgbClr val="D4634E"/>
            </a:solidFill>
            <a:prstDash val="solid"/>
            <a:headEnd type="none"/>
            <a:tailEnd type="arrow"/>
          </a:ln>
        </p:spPr>
      </p:sp>
      <p:sp>
        <p:nvSpPr>
          <p:cNvPr id="19" name="Text 17"/>
          <p:cNvSpPr/>
          <p:nvPr/>
        </p:nvSpPr>
        <p:spPr>
          <a:xfrm>
            <a:off x="12065000" y="1930400"/>
            <a:ext cx="139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Audit trail, outcomes, intelligence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2000" y="3302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762000" y="3810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00" y="38100"/>
                </a:moveTo>
                <a:cubicBezTo>
                  <a:pt x="12700" y="17085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17085"/>
                  <a:pt x="292100" y="38100"/>
                </a:cubicBezTo>
                <a:lnTo>
                  <a:pt x="292100" y="266700"/>
                </a:lnTo>
                <a:cubicBezTo>
                  <a:pt x="292100" y="287715"/>
                  <a:pt x="269319" y="304800"/>
                  <a:pt x="241300" y="304800"/>
                </a:cubicBezTo>
                <a:lnTo>
                  <a:pt x="63500" y="304800"/>
                </a:lnTo>
                <a:cubicBezTo>
                  <a:pt x="35481" y="304800"/>
                  <a:pt x="12700" y="287715"/>
                  <a:pt x="12700" y="266700"/>
                </a:cubicBezTo>
                <a:lnTo>
                  <a:pt x="12700" y="38100"/>
                </a:lnTo>
                <a:close/>
                <a:moveTo>
                  <a:pt x="63500" y="38100"/>
                </a:moveTo>
                <a:lnTo>
                  <a:pt x="63500" y="219075"/>
                </a:lnTo>
                <a:lnTo>
                  <a:pt x="241300" y="219075"/>
                </a:lnTo>
                <a:lnTo>
                  <a:pt x="241300" y="38100"/>
                </a:lnTo>
                <a:lnTo>
                  <a:pt x="63500" y="38100"/>
                </a:lnTo>
                <a:close/>
                <a:moveTo>
                  <a:pt x="152400" y="280987"/>
                </a:moveTo>
                <a:cubicBezTo>
                  <a:pt x="166449" y="280987"/>
                  <a:pt x="177800" y="272475"/>
                  <a:pt x="177800" y="261937"/>
                </a:cubicBezTo>
                <a:cubicBezTo>
                  <a:pt x="177800" y="251400"/>
                  <a:pt x="166449" y="242888"/>
                  <a:pt x="152400" y="242888"/>
                </a:cubicBezTo>
                <a:cubicBezTo>
                  <a:pt x="138351" y="242888"/>
                  <a:pt x="127000" y="251400"/>
                  <a:pt x="127000" y="261937"/>
                </a:cubicBezTo>
                <a:cubicBezTo>
                  <a:pt x="127000" y="272475"/>
                  <a:pt x="138351" y="280987"/>
                  <a:pt x="152400" y="280987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2" name="Text 20"/>
          <p:cNvSpPr/>
          <p:nvPr/>
        </p:nvSpPr>
        <p:spPr>
          <a:xfrm>
            <a:off x="1206500" y="37846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Mobile-first operator surface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broker is a phone on a highway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2000" y="450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33" y="57150"/>
                </a:moveTo>
                <a:cubicBezTo>
                  <a:pt x="7567" y="57150"/>
                  <a:pt x="0" y="65663"/>
                  <a:pt x="0" y="76200"/>
                </a:cubicBezTo>
                <a:lnTo>
                  <a:pt x="0" y="228600"/>
                </a:lnTo>
                <a:cubicBezTo>
                  <a:pt x="0" y="239137"/>
                  <a:pt x="7567" y="247650"/>
                  <a:pt x="16933" y="247650"/>
                </a:cubicBezTo>
                <a:cubicBezTo>
                  <a:pt x="26300" y="247650"/>
                  <a:pt x="33867" y="239137"/>
                  <a:pt x="33867" y="228600"/>
                </a:cubicBezTo>
                <a:lnTo>
                  <a:pt x="33867" y="76200"/>
                </a:lnTo>
                <a:cubicBezTo>
                  <a:pt x="33867" y="65663"/>
                  <a:pt x="26300" y="57150"/>
                  <a:pt x="16933" y="57150"/>
                </a:cubicBezTo>
                <a:close/>
                <a:moveTo>
                  <a:pt x="206693" y="203954"/>
                </a:moveTo>
                <a:lnTo>
                  <a:pt x="240559" y="165854"/>
                </a:lnTo>
                <a:cubicBezTo>
                  <a:pt x="247174" y="158413"/>
                  <a:pt x="247174" y="146328"/>
                  <a:pt x="240559" y="138886"/>
                </a:cubicBezTo>
                <a:lnTo>
                  <a:pt x="206693" y="100786"/>
                </a:lnTo>
                <a:cubicBezTo>
                  <a:pt x="200078" y="93345"/>
                  <a:pt x="189336" y="93345"/>
                  <a:pt x="182721" y="100786"/>
                </a:cubicBezTo>
                <a:cubicBezTo>
                  <a:pt x="176107" y="108228"/>
                  <a:pt x="176107" y="120313"/>
                  <a:pt x="182721" y="127754"/>
                </a:cubicBezTo>
                <a:lnTo>
                  <a:pt x="187695" y="133350"/>
                </a:lnTo>
                <a:lnTo>
                  <a:pt x="117052" y="133350"/>
                </a:lnTo>
                <a:lnTo>
                  <a:pt x="122026" y="127754"/>
                </a:lnTo>
                <a:cubicBezTo>
                  <a:pt x="128640" y="120313"/>
                  <a:pt x="128640" y="108228"/>
                  <a:pt x="122026" y="100786"/>
                </a:cubicBezTo>
                <a:cubicBezTo>
                  <a:pt x="115411" y="93345"/>
                  <a:pt x="104669" y="93345"/>
                  <a:pt x="98055" y="100786"/>
                </a:cubicBezTo>
                <a:lnTo>
                  <a:pt x="64188" y="138886"/>
                </a:lnTo>
                <a:cubicBezTo>
                  <a:pt x="61013" y="142458"/>
                  <a:pt x="59214" y="147280"/>
                  <a:pt x="59214" y="152340"/>
                </a:cubicBezTo>
                <a:cubicBezTo>
                  <a:pt x="59214" y="157401"/>
                  <a:pt x="61013" y="162223"/>
                  <a:pt x="64188" y="165795"/>
                </a:cubicBezTo>
                <a:lnTo>
                  <a:pt x="98055" y="203895"/>
                </a:lnTo>
                <a:cubicBezTo>
                  <a:pt x="104669" y="211336"/>
                  <a:pt x="115411" y="211336"/>
                  <a:pt x="122026" y="203895"/>
                </a:cubicBezTo>
                <a:cubicBezTo>
                  <a:pt x="128640" y="196453"/>
                  <a:pt x="128640" y="184368"/>
                  <a:pt x="122026" y="176927"/>
                </a:cubicBezTo>
                <a:lnTo>
                  <a:pt x="117052" y="171331"/>
                </a:lnTo>
                <a:lnTo>
                  <a:pt x="187695" y="171331"/>
                </a:lnTo>
                <a:lnTo>
                  <a:pt x="182721" y="176927"/>
                </a:lnTo>
                <a:cubicBezTo>
                  <a:pt x="176107" y="184368"/>
                  <a:pt x="176107" y="196453"/>
                  <a:pt x="182721" y="203895"/>
                </a:cubicBezTo>
                <a:cubicBezTo>
                  <a:pt x="189336" y="211336"/>
                  <a:pt x="200078" y="211336"/>
                  <a:pt x="206693" y="203895"/>
                </a:cubicBezTo>
                <a:close/>
                <a:moveTo>
                  <a:pt x="304800" y="76200"/>
                </a:moveTo>
                <a:cubicBezTo>
                  <a:pt x="304800" y="65663"/>
                  <a:pt x="297233" y="57150"/>
                  <a:pt x="287867" y="57150"/>
                </a:cubicBezTo>
                <a:cubicBezTo>
                  <a:pt x="278500" y="57150"/>
                  <a:pt x="270933" y="65663"/>
                  <a:pt x="270933" y="76200"/>
                </a:cubicBezTo>
                <a:lnTo>
                  <a:pt x="270933" y="228600"/>
                </a:lnTo>
                <a:cubicBezTo>
                  <a:pt x="270933" y="239137"/>
                  <a:pt x="278500" y="247650"/>
                  <a:pt x="287867" y="247650"/>
                </a:cubicBezTo>
                <a:cubicBezTo>
                  <a:pt x="297233" y="247650"/>
                  <a:pt x="304800" y="239137"/>
                  <a:pt x="304800" y="228600"/>
                </a:cubicBezTo>
                <a:lnTo>
                  <a:pt x="304800" y="76200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4" name="Text 22"/>
          <p:cNvSpPr/>
          <p:nvPr/>
        </p:nvSpPr>
        <p:spPr>
          <a:xfrm>
            <a:off x="1206500" y="44831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Multi-source by construction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most leads born outside WhatsApp, must be pulled in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2000" y="520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1600" y="57150"/>
                </a:moveTo>
                <a:lnTo>
                  <a:pt x="101600" y="95250"/>
                </a:lnTo>
                <a:lnTo>
                  <a:pt x="203200" y="95250"/>
                </a:lnTo>
                <a:lnTo>
                  <a:pt x="203200" y="57150"/>
                </a:lnTo>
                <a:cubicBezTo>
                  <a:pt x="203200" y="36135"/>
                  <a:pt x="180419" y="19050"/>
                  <a:pt x="152400" y="19050"/>
                </a:cubicBezTo>
                <a:cubicBezTo>
                  <a:pt x="124381" y="19050"/>
                  <a:pt x="101600" y="36135"/>
                  <a:pt x="101600" y="57150"/>
                </a:cubicBezTo>
                <a:close/>
                <a:moveTo>
                  <a:pt x="50800" y="95250"/>
                </a:moveTo>
                <a:lnTo>
                  <a:pt x="50800" y="57150"/>
                </a:lnTo>
                <a:cubicBezTo>
                  <a:pt x="50800" y="15061"/>
                  <a:pt x="96282" y="-19050"/>
                  <a:pt x="152400" y="-19050"/>
                </a:cubicBezTo>
                <a:cubicBezTo>
                  <a:pt x="208518" y="-19050"/>
                  <a:pt x="254000" y="15061"/>
                  <a:pt x="254000" y="57150"/>
                </a:cubicBezTo>
                <a:lnTo>
                  <a:pt x="254000" y="95250"/>
                </a:lnTo>
                <a:cubicBezTo>
                  <a:pt x="282019" y="95250"/>
                  <a:pt x="304800" y="112335"/>
                  <a:pt x="304800" y="133350"/>
                </a:cubicBezTo>
                <a:lnTo>
                  <a:pt x="304800" y="266700"/>
                </a:lnTo>
                <a:cubicBezTo>
                  <a:pt x="304800" y="287715"/>
                  <a:pt x="282019" y="304800"/>
                  <a:pt x="254000" y="304800"/>
                </a:cubicBezTo>
                <a:lnTo>
                  <a:pt x="50800" y="304800"/>
                </a:lnTo>
                <a:cubicBezTo>
                  <a:pt x="22781" y="304800"/>
                  <a:pt x="0" y="287715"/>
                  <a:pt x="0" y="266700"/>
                </a:cubicBezTo>
                <a:lnTo>
                  <a:pt x="0" y="133350"/>
                </a:lnTo>
                <a:cubicBezTo>
                  <a:pt x="0" y="112335"/>
                  <a:pt x="22781" y="95250"/>
                  <a:pt x="50800" y="95250"/>
                </a:cubicBez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6" name="Text 24"/>
          <p:cNvSpPr/>
          <p:nvPr/>
        </p:nvSpPr>
        <p:spPr>
          <a:xfrm>
            <a:off x="1206500" y="51816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Grounded generation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AI only asserts what verified documents contain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62000" y="5905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1233" y="52388"/>
                </a:moveTo>
                <a:lnTo>
                  <a:pt x="173567" y="52388"/>
                </a:lnTo>
                <a:lnTo>
                  <a:pt x="173567" y="80962"/>
                </a:lnTo>
                <a:lnTo>
                  <a:pt x="131233" y="80962"/>
                </a:lnTo>
                <a:lnTo>
                  <a:pt x="131233" y="52388"/>
                </a:lnTo>
                <a:close/>
                <a:moveTo>
                  <a:pt x="127000" y="19050"/>
                </a:moveTo>
                <a:cubicBezTo>
                  <a:pt x="112977" y="19050"/>
                  <a:pt x="101600" y="31849"/>
                  <a:pt x="101600" y="47625"/>
                </a:cubicBezTo>
                <a:lnTo>
                  <a:pt x="101600" y="85725"/>
                </a:lnTo>
                <a:cubicBezTo>
                  <a:pt x="101600" y="101501"/>
                  <a:pt x="112977" y="114300"/>
                  <a:pt x="127000" y="114300"/>
                </a:cubicBezTo>
                <a:lnTo>
                  <a:pt x="135467" y="114300"/>
                </a:lnTo>
                <a:lnTo>
                  <a:pt x="135467" y="133350"/>
                </a:lnTo>
                <a:lnTo>
                  <a:pt x="16933" y="133350"/>
                </a:lnTo>
                <a:cubicBezTo>
                  <a:pt x="7567" y="133350"/>
                  <a:pt x="0" y="141863"/>
                  <a:pt x="0" y="152400"/>
                </a:cubicBezTo>
                <a:cubicBezTo>
                  <a:pt x="0" y="162937"/>
                  <a:pt x="7567" y="171450"/>
                  <a:pt x="16933" y="171450"/>
                </a:cubicBezTo>
                <a:lnTo>
                  <a:pt x="67733" y="171450"/>
                </a:lnTo>
                <a:lnTo>
                  <a:pt x="67733" y="190500"/>
                </a:lnTo>
                <a:lnTo>
                  <a:pt x="59267" y="190500"/>
                </a:lnTo>
                <a:cubicBezTo>
                  <a:pt x="45244" y="190500"/>
                  <a:pt x="33867" y="203299"/>
                  <a:pt x="33867" y="219075"/>
                </a:cubicBezTo>
                <a:lnTo>
                  <a:pt x="33867" y="257175"/>
                </a:lnTo>
                <a:cubicBezTo>
                  <a:pt x="33867" y="272951"/>
                  <a:pt x="45244" y="285750"/>
                  <a:pt x="59267" y="285750"/>
                </a:cubicBezTo>
                <a:lnTo>
                  <a:pt x="110067" y="285750"/>
                </a:lnTo>
                <a:cubicBezTo>
                  <a:pt x="124090" y="285750"/>
                  <a:pt x="135467" y="272951"/>
                  <a:pt x="135467" y="257175"/>
                </a:cubicBezTo>
                <a:lnTo>
                  <a:pt x="135467" y="219075"/>
                </a:lnTo>
                <a:cubicBezTo>
                  <a:pt x="135467" y="203299"/>
                  <a:pt x="124090" y="190500"/>
                  <a:pt x="110067" y="190500"/>
                </a:cubicBezTo>
                <a:lnTo>
                  <a:pt x="101600" y="190500"/>
                </a:lnTo>
                <a:lnTo>
                  <a:pt x="101600" y="171450"/>
                </a:lnTo>
                <a:lnTo>
                  <a:pt x="203200" y="171450"/>
                </a:lnTo>
                <a:lnTo>
                  <a:pt x="203200" y="190500"/>
                </a:lnTo>
                <a:lnTo>
                  <a:pt x="194733" y="190500"/>
                </a:lnTo>
                <a:cubicBezTo>
                  <a:pt x="180710" y="190500"/>
                  <a:pt x="169333" y="203299"/>
                  <a:pt x="169333" y="219075"/>
                </a:cubicBezTo>
                <a:lnTo>
                  <a:pt x="169333" y="257175"/>
                </a:lnTo>
                <a:cubicBezTo>
                  <a:pt x="169333" y="272951"/>
                  <a:pt x="180710" y="285750"/>
                  <a:pt x="194733" y="285750"/>
                </a:cubicBezTo>
                <a:lnTo>
                  <a:pt x="245533" y="285750"/>
                </a:lnTo>
                <a:cubicBezTo>
                  <a:pt x="259556" y="285750"/>
                  <a:pt x="270933" y="272951"/>
                  <a:pt x="270933" y="257175"/>
                </a:cubicBezTo>
                <a:lnTo>
                  <a:pt x="270933" y="219075"/>
                </a:lnTo>
                <a:cubicBezTo>
                  <a:pt x="270933" y="203299"/>
                  <a:pt x="259556" y="190500"/>
                  <a:pt x="245533" y="190500"/>
                </a:cubicBezTo>
                <a:lnTo>
                  <a:pt x="237067" y="190500"/>
                </a:lnTo>
                <a:lnTo>
                  <a:pt x="237067" y="171450"/>
                </a:lnTo>
                <a:lnTo>
                  <a:pt x="287867" y="171450"/>
                </a:lnTo>
                <a:cubicBezTo>
                  <a:pt x="297233" y="171450"/>
                  <a:pt x="304800" y="162937"/>
                  <a:pt x="304800" y="152400"/>
                </a:cubicBezTo>
                <a:cubicBezTo>
                  <a:pt x="304800" y="141863"/>
                  <a:pt x="297233" y="133350"/>
                  <a:pt x="287867" y="133350"/>
                </a:cubicBezTo>
                <a:lnTo>
                  <a:pt x="169333" y="133350"/>
                </a:lnTo>
                <a:lnTo>
                  <a:pt x="169333" y="114300"/>
                </a:lnTo>
                <a:lnTo>
                  <a:pt x="177800" y="114300"/>
                </a:lnTo>
                <a:cubicBezTo>
                  <a:pt x="191823" y="114300"/>
                  <a:pt x="203200" y="101501"/>
                  <a:pt x="203200" y="85725"/>
                </a:cubicBezTo>
                <a:lnTo>
                  <a:pt x="203200" y="47625"/>
                </a:lnTo>
                <a:cubicBezTo>
                  <a:pt x="203200" y="31849"/>
                  <a:pt x="191823" y="19050"/>
                  <a:pt x="177800" y="19050"/>
                </a:cubicBezTo>
                <a:lnTo>
                  <a:pt x="127000" y="19050"/>
                </a:lnTo>
                <a:close/>
                <a:moveTo>
                  <a:pt x="237067" y="223838"/>
                </a:moveTo>
                <a:lnTo>
                  <a:pt x="241300" y="223838"/>
                </a:lnTo>
                <a:lnTo>
                  <a:pt x="241300" y="252413"/>
                </a:lnTo>
                <a:lnTo>
                  <a:pt x="198967" y="252413"/>
                </a:lnTo>
                <a:lnTo>
                  <a:pt x="198967" y="223838"/>
                </a:lnTo>
                <a:lnTo>
                  <a:pt x="237067" y="223838"/>
                </a:lnTo>
                <a:close/>
                <a:moveTo>
                  <a:pt x="101600" y="223838"/>
                </a:moveTo>
                <a:lnTo>
                  <a:pt x="105833" y="223838"/>
                </a:lnTo>
                <a:lnTo>
                  <a:pt x="105833" y="252413"/>
                </a:lnTo>
                <a:lnTo>
                  <a:pt x="63500" y="252413"/>
                </a:lnTo>
                <a:lnTo>
                  <a:pt x="63500" y="223838"/>
                </a:lnTo>
                <a:lnTo>
                  <a:pt x="101600" y="223838"/>
                </a:lnTo>
                <a:close/>
              </a:path>
            </a:pathLst>
          </a:custGeom>
          <a:solidFill>
            <a:srgbClr val="D4634E"/>
          </a:solidFill>
          <a:ln/>
        </p:spPr>
      </p:sp>
      <p:sp>
        <p:nvSpPr>
          <p:cNvPr id="28" name="Text 26"/>
          <p:cNvSpPr/>
          <p:nvPr/>
        </p:nvSpPr>
        <p:spPr>
          <a:xfrm>
            <a:off x="1206500" y="5880100"/>
            <a:ext cx="596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Network-ready data model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consent, attribution, reputation fields from day one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82000" y="3302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ENGINE HIGHLIGHTS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382000" y="3784600"/>
            <a:ext cx="711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14 intent classes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from NEW_ENQUIRY to NEGOTIATION to REACTIVATION_REPLY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82000" y="4521200"/>
            <a:ext cx="711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BLTC state machine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tracks which slots remain UNKNOWN, asks at most one per turn, extracts opportunistically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82000" y="5283200"/>
            <a:ext cx="711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 routing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auto-execute &gt;=90, draft 70-89, propose 50-69, escalate &lt;50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382000" y="6045200"/>
            <a:ext cx="7112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routing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fast low-cost model for classification/extraction; frontier model for customer-facing turns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382000" y="6781800"/>
            <a:ext cx="71120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b="1" dirty="0">
                <a:solidFill>
                  <a:srgbClr val="D463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JSON output contract</a:t>
            </a:r>
            <a:pPr algn="l">
              <a:lnSpc>
                <a:spcPct val="150000"/>
              </a:lnSpc>
            </a:pPr>
            <a:r>
              <a:rPr lang="en-US" sz="15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response_text, confidence, intent, BLTC updates, actions[]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2000" y="7162800"/>
            <a:ext cx="14732000" cy="158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000" y="72644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LEAN STACK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16000" y="7594600"/>
            <a:ext cx="1422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monolith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(Fastify) on Railway/Render ·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Supabase Postgres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RLS + pgvector (one database: relational, vectors, queues) ·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WhatsApp Cloud API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 with BSP fallback (360dialog/Gupshup) ·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Frontier + fast LLM pair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via API · Multilingual STT · Sentry + structured logs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i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Kubernetes, no microservices, no self-hosted vector DB — every infrastructure vanity deferred until customer count forces it.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9" name="Text 37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TECHNOLOGY BLUEPRINT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DELIVERY ROADMAP — MVP TO 12 MONTHS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986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MVP SCOPE (WEEKS 5-12)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1968500"/>
            <a:ext cx="7112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2000" y="1968500"/>
            <a:ext cx="7112000" cy="6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2159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4CAF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(8 WEEKS)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6000" y="2476500"/>
            <a:ext cx="6604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WhatsApp Cloud API in/out (1 number/business)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Ingestion: CTWA, Meta Lead Ads, portal email parser, CSV + identity merge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BLTC state machine, scoring, pipeline stages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Projects/Units/Assets grounding + playbook RAG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Site visits: Calendar OAuth, reminders, reschedules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Cadence engine + 12-template library + compliance gate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Hot alerts, morning briefing, approval queue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1B1B2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Takeover/override, opt-out, audit log, autonomy dial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28000" y="1968500"/>
            <a:ext cx="7366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28000" y="1968500"/>
            <a:ext cx="7366000" cy="63500"/>
          </a:xfrm>
          <a:prstGeom prst="rect">
            <a:avLst/>
          </a:prstGeom>
          <a:solidFill>
            <a:srgbClr val="A8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8382000" y="2159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 (DEFERRED DELIBERATELY)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382000" y="2476500"/>
            <a:ext cx="6858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Web widget, Instagram DM, RCS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Portal APIs, IVR (Phase 2)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ML scoring beyond LLM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Exchange matching (~15 corridor accounts)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Multi-agent routing (single inbox first)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Cadence visual editor (founder-configured)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Payments, loan integrations</a:t>
            </a:r>
            <a:endParaRPr lang="en-US" sz="1300" dirty="0"/>
          </a:p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Analytics suite (Sheets export covers 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2000" y="5080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12-MONTH FEATURE ARC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5588000"/>
            <a:ext cx="3492500" cy="1651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6" name="Text 14"/>
          <p:cNvSpPr/>
          <p:nvPr/>
        </p:nvSpPr>
        <p:spPr>
          <a:xfrm>
            <a:off x="1016000" y="5689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6000" y="59944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MVP + 10 paying accounts. Founder shadows 5 days/account.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08500" y="5588000"/>
            <a:ext cx="3492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2500" y="5689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62500" y="59944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routing &amp; multi-agent inboxes. IVR. CRM push. Corridor intelligence v1 (read-only).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55000" y="5588000"/>
            <a:ext cx="3492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09000" y="5689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9000" y="59944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beta</a:t>
            </a:r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(invitation-only, white-glove). Developer plan GA. Corridor priors live in prompts.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2001500" y="5588000"/>
            <a:ext cx="34925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5500" y="56896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255500" y="5994400"/>
            <a:ext cx="2984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3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Exchange GA on corridor 1. Metro-2 launch. Payments behind human gates.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62000" y="7493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8-week build sequence: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Wk5 (Rails + webhook loop) -&gt; Wk6 (AI loop v1) -&gt; Wk7 (Site visits) -&gt; Wk8 (Ingestion) -&gt; Wk9 (Cadences + compliance) -&gt; Wk10 (Broker surface) -&gt; Wk11 (Hardening + chaos drills) -&gt; Wk12 (Migrate pilots, launch review). </a:t>
            </a:r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AI-accelerated solo development.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29" name="Text 27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5_3_443_Mumbai_Night_Stock_Video_Foot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96000"/>
                </a:srgbClr>
              </a:gs>
              <a:gs pos="55000">
                <a:srgbClr val="1B1B2F">
                  <a:alpha val="85000"/>
                </a:srgbClr>
              </a:gs>
              <a:gs pos="100000">
                <a:srgbClr val="1B1B2F">
                  <a:alpha val="40000"/>
                </a:srgbClr>
              </a:gs>
            </a:gsLst>
            <a:lin ang="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16000" y="2540000"/>
            <a:ext cx="254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0000"/>
              </a:lnSpc>
            </a:pPr>
            <a:r>
              <a:rPr lang="en-US" sz="80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Shape 2"/>
          <p:cNvSpPr/>
          <p:nvPr/>
        </p:nvSpPr>
        <p:spPr>
          <a:xfrm>
            <a:off x="1016000" y="3937000"/>
            <a:ext cx="762000" cy="508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6" name="Text 3"/>
          <p:cNvSpPr/>
          <p:nvPr/>
        </p:nvSpPr>
        <p:spPr>
          <a:xfrm>
            <a:off x="1016000" y="4191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spc="3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KPIs, risks, team, and capital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KPIs, MILESTONES &amp; RISK REGISTER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3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OPERATING KPIs</a:t>
            </a:r>
            <a:endParaRPr lang="en-US" sz="1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7112000" cy="3302000"/>
        </p:xfrm>
        <a:graphic>
          <a:graphicData uri="http://schemas.openxmlformats.org/drawingml/2006/table">
            <a:tbl>
              <a:tblPr/>
              <a:tblGrid>
                <a:gridCol w="2844800"/>
                <a:gridCol w="2133600"/>
                <a:gridCol w="2133600"/>
              </a:tblGrid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Metric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Definition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Target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Response time (P95)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Lead -&gt; first reply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&lt;60s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Engagement rate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&gt;=2 buyer turns / leads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&gt;=40%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Qualification rate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Full BLTC / engaged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&gt;=60%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Site visits / 100 leads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Booked / raw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&gt;=8</a:t>
                      </a:r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 (vs 2-4)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Show-up rate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Attended / booked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&gt;=60%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AI autonomy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No human / all turns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&gt;=70% -&gt; 85%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Logo churn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Monthly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&lt;3.5% -&gt; &lt;2.5%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Hot alert action rate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Actioned &lt;30 min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&gt;=70%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RISKS &amp; MITIGATIONS</a:t>
            </a:r>
            <a:endParaRPr lang="en-US" sz="1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905000"/>
          <a:ext cx="7112000" cy="3302000"/>
        </p:xfrm>
        <a:graphic>
          <a:graphicData uri="http://schemas.openxmlformats.org/drawingml/2006/table">
            <a:tbl>
              <a:tblPr/>
              <a:tblGrid>
                <a:gridCol w="2702560"/>
                <a:gridCol w="1137920"/>
                <a:gridCol w="3271520"/>
              </a:tblGrid>
              <a:tr h="363220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Risk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Severity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F5F0EB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Mitigation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2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Platform giants add vertical depth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Cross-source neutrality + exchange moat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Network cold-start stalls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SaaS independently viable; density gating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Exchange trust failure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Immutable ledger + reliability scoring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WhatsApp platform risk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Med-High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BSP fallback, channel-portable arch.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'AI ruined my lead' blame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Med-High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Grounded gen + audit trail proves it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Data sensitivity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rgbClr val="D4634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High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RLS isolation, consent-gated, exportable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7347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Regulatory (DPDPA/RERA)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Medium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1B1B2F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Compliance-by-architecture</a:t>
                      </a:r>
                      <a:endParaRPr lang="en-US" sz="12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EB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62000" y="5524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LAUNCH-READINESS GATE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762000" y="5969000"/>
            <a:ext cx="14732000" cy="1270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11" name="Text 7"/>
          <p:cNvSpPr/>
          <p:nvPr/>
        </p:nvSpPr>
        <p:spPr>
          <a:xfrm>
            <a:off x="1016000" y="6070600"/>
            <a:ext cx="1422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rule: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system can run 7 days unattended without embarrassing, bankrupting, or endangering a customer, it may ship.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 no-ship conditions: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price from unverified sheet, availability for SOLD unit, send to opted-out number, RERA claim beyond sheet, hot alert &gt;60s, cross-tenant data.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Kill/pivot criteria: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&lt;2 of 5 pilots convert, no site-visit lift after 60 days, or two cohorts churning &gt;20%/quarter.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62000" y="7366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Corridor density targets: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15+ active accounts per corridor for exchange ignition. % leads receiving cross-network match offer. Syndication acceptance rate. Co-broked closings/member/qtr. Exchange dispute rate &lt;2%. Intelligence opt-in rate &gt;80%. These are tracked with the same seriousness as MRR — because they </a:t>
            </a:r>
            <a:pPr algn="l">
              <a:lnSpc>
                <a:spcPct val="150000"/>
              </a:lnSpc>
            </a:pPr>
            <a:r>
              <a:rPr lang="en-US" sz="1400" i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</a:t>
            </a:r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future MRR.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14" name="Text 10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445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62000" y="76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spc="300" kern="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 &amp; CAPITAL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762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7112000" cy="22225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625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16000" y="1930400"/>
            <a:ext cx="6604000" cy="175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Solo founder with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finance and real-estate background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domain network supplying first pilots, transaction literacy (commission structures, CP economics, RERA, loan workflows), and prior deep design work in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customer-communication systems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is AI-accelerated; founder ships the MVP personally.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2000" y="3683000"/>
            <a:ext cx="7112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2000" y="3683000"/>
            <a:ext cx="50800" cy="22860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7846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HIRES (POST PRE-SEED)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16000" y="4089400"/>
            <a:ext cx="660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Founding Engineer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pipeline &amp; exchange infrastructure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Corridor Growth Lead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broker-community native, referral engine operator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Founding Engineer #2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integrations &amp; mobile surface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Advisory: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Senior CP principal, RERA counsel, WhatsApp platform specialist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82000" y="1524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CAPITAL PLAN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006600"/>
            <a:ext cx="7112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36000" y="2108200"/>
            <a:ext cx="317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&lt;Rs.8L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636000" y="25781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 0-1: BOOTSTRAPPED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36000" y="2857500"/>
            <a:ext cx="533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Infra, WhatsApp/BSP fees, pilot ops, template approvals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82000" y="3530600"/>
            <a:ext cx="7112000" cy="1587500"/>
          </a:xfrm>
          <a:prstGeom prst="rect">
            <a:avLst/>
          </a:prstGeom>
          <a:solidFill>
            <a:srgbClr val="D4634E">
              <a:alpha val="823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8382000" y="3530600"/>
            <a:ext cx="50800" cy="15875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19" name="Text 17"/>
          <p:cNvSpPr/>
          <p:nvPr/>
        </p:nvSpPr>
        <p:spPr>
          <a:xfrm>
            <a:off x="8636000" y="36322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Rs.2.5-3 Cr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636000" y="41910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2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PRE-SEED ROUND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36000" y="4483100"/>
            <a:ext cx="533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6B5B4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10-paying-accounts milestone. Funds 18-20 months to Series-A.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82000" y="5397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800" dirty="0">
                <a:solidFill>
                  <a:srgbClr val="1B1B2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SERIES-A TARGETS (18-20 MONTHS)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82000" y="5880100"/>
            <a:ext cx="2286000" cy="1143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4" name="Text 22"/>
          <p:cNvSpPr/>
          <p:nvPr/>
        </p:nvSpPr>
        <p:spPr>
          <a:xfrm>
            <a:off x="8509000" y="59817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Rs.2 Cr+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509000" y="64770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 RUN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858500" y="5880100"/>
            <a:ext cx="2286000" cy="1143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27" name="Text 25"/>
          <p:cNvSpPr/>
          <p:nvPr/>
        </p:nvSpPr>
        <p:spPr>
          <a:xfrm>
            <a:off x="10985500" y="5981700"/>
            <a:ext cx="20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10985500" y="6477000"/>
            <a:ext cx="203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LIVE CORRIDORS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335000" y="5880100"/>
            <a:ext cx="2159000" cy="1143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0" name="Text 28"/>
          <p:cNvSpPr/>
          <p:nvPr/>
        </p:nvSpPr>
        <p:spPr>
          <a:xfrm>
            <a:off x="13462000" y="5981700"/>
            <a:ext cx="1905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&gt;115%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3462000" y="6477000"/>
            <a:ext cx="1905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1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NRR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2000" y="7239000"/>
            <a:ext cx="14732000" cy="1143000"/>
          </a:xfrm>
          <a:prstGeom prst="rect">
            <a:avLst/>
          </a:prstGeom>
          <a:solidFill>
            <a:srgbClr val="1B1B2F"/>
          </a:solidFill>
          <a:ln/>
        </p:spPr>
      </p:sp>
      <p:sp>
        <p:nvSpPr>
          <p:cNvPr id="33" name="Text 31"/>
          <p:cNvSpPr/>
          <p:nvPr/>
        </p:nvSpPr>
        <p:spPr>
          <a:xfrm>
            <a:off x="1016000" y="7340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1100" spc="200" kern="0" dirty="0">
                <a:solidFill>
                  <a:srgbClr val="D4634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THESIS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16000" y="7620000"/>
            <a:ext cx="1422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500" i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SaaS makes the company fundable on revenue; the exchange makes it venture-scale; the corridor playbook makes it repeatable.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62000" y="8801100"/>
            <a:ext cx="14732000" cy="12700"/>
          </a:xfrm>
          <a:prstGeom prst="rect">
            <a:avLst/>
          </a:prstGeom>
          <a:solidFill>
            <a:srgbClr val="E0D8D0"/>
          </a:solidFill>
          <a:ln/>
        </p:spPr>
      </p:sp>
      <p:sp>
        <p:nvSpPr>
          <p:cNvPr id="36" name="Text 34"/>
          <p:cNvSpPr/>
          <p:nvPr/>
        </p:nvSpPr>
        <p:spPr>
          <a:xfrm>
            <a:off x="762000" y="88519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GoSumo Realty  |  Confidential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i5ickwkqbzzre/mnt/agents/output/gosumo-realty/images/8_13_500_India_City_Aerial_Stock_Photos.png">    </p:cNvPr>
          <p:cNvPicPr>
            <a:picLocks noChangeAspect="1"/>
          </p:cNvPicPr>
          <p:nvPr/>
        </p:nvPicPr>
        <p:blipFill>
          <a:blip r:embed="rId1"/>
          <a:srcRect l="36" r="3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1B2F">
                  <a:alpha val="80000"/>
                </a:srgbClr>
              </a:gs>
              <a:gs pos="100000">
                <a:srgbClr val="1B1B2F">
                  <a:alpha val="95000"/>
                </a:srgbClr>
              </a:gs>
            </a:gsLst>
            <a:path path="circle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476500"/>
            <a:ext cx="2540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2730500"/>
            <a:ext cx="1270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spc="300" kern="0" dirty="0">
                <a:solidFill>
                  <a:srgbClr val="A89A8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ONE-LINE THESIS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524000" y="34925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Indian real estate runs on leads that die in silence and deals that die in distrust. GoSumo </a:t>
            </a:r>
            <a:pPr algn="ctr">
              <a:lnSpc>
                <a:spcPct val="160000"/>
              </a:lnSpc>
            </a:pPr>
            <a:r>
              <a:rPr lang="en-US" sz="22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kills the silence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AI workforce and </a:t>
            </a:r>
            <a:pPr algn="ctr">
              <a:lnSpc>
                <a:spcPct val="160000"/>
              </a:lnSpc>
            </a:pPr>
            <a:r>
              <a:rPr lang="en-US" sz="2200" b="1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kills the distrust</a:t>
            </a:r>
            <a:pPr algn="ctr">
              <a:lnSpc>
                <a:spcPct val="160000"/>
              </a:lnSpc>
            </a:pPr>
            <a:r>
              <a:rPr lang="en-US" sz="2200" dirty="0">
                <a:solidFill>
                  <a:srgbClr val="F5F0E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an exchange — and every broker who joins makes both machines stronger for everyone already inside.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6858000" y="5207000"/>
            <a:ext cx="2540000" cy="38100"/>
          </a:xfrm>
          <a:prstGeom prst="rect">
            <a:avLst/>
          </a:prstGeom>
          <a:solidFill>
            <a:srgbClr val="D4634E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55245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000" spc="400" kern="0" dirty="0">
                <a:solidFill>
                  <a:srgbClr val="F5F0E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GOSUMO REALTY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3048000" y="6413500"/>
            <a:ext cx="1016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lead answered. Every buyer qualified.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follow-up kept. Every unmatched lead, a closing shared.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7493000"/>
            <a:ext cx="762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A89A8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Business Plan &amp; Technical Blueprint  |  July 2026  |  Confidential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GoSumo Realty — Business Plan &amp; Technical Blueprint</dc:title>
  <dc:subject>GoSumo Realty — Business Plan &amp; Technical Blueprint</dc:subject>
  <dc:creator>Kimi</dc:creator>
  <cp:lastModifiedBy>Kimi</cp:lastModifiedBy>
  <cp:revision>1</cp:revision>
  <dcterms:created xsi:type="dcterms:W3CDTF">2026-07-02T12:34:35Z</dcterms:created>
  <dcterms:modified xsi:type="dcterms:W3CDTF">2026-07-02T12:34:35Z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{"Label":"GoSumo Realty — Business Plan &amp; Technical Blueprint","ContentProducer":"001191110108MACG2KBH8F10000","ProduceID":"19f213a0-6672-894a-8000-0000a4642a8b","ReservedCode1":"","ContentPropagator":"001191110108MACG2KBH8F20000","PropagateID":"19f2112a-9472-8989-8000-09d712c04d28","ReservedCode2":""}</vt:lpwstr>
  </property>
</Properties>
</file>